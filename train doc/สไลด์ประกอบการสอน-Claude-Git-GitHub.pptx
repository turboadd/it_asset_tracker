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91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D TURBO" userId="228a3ff56fcff54b" providerId="LiveId" clId="{3762ECE2-FFC4-4411-8261-6094424990E3}"/>
    <pc:docChg chg="modSld">
      <pc:chgData name="ADD TURBO" userId="228a3ff56fcff54b" providerId="LiveId" clId="{3762ECE2-FFC4-4411-8261-6094424990E3}" dt="2026-09-11T07:29:14.715" v="35" actId="1036"/>
      <pc:docMkLst>
        <pc:docMk/>
      </pc:docMkLst>
      <pc:sldChg chg="modSp mod">
        <pc:chgData name="ADD TURBO" userId="228a3ff56fcff54b" providerId="LiveId" clId="{3762ECE2-FFC4-4411-8261-6094424990E3}" dt="2026-09-11T07:24:57.362" v="12" actId="6549"/>
        <pc:sldMkLst>
          <pc:docMk/>
          <pc:sldMk cId="0" sldId="266"/>
        </pc:sldMkLst>
        <pc:spChg chg="mod">
          <ac:chgData name="ADD TURBO" userId="228a3ff56fcff54b" providerId="LiveId" clId="{3762ECE2-FFC4-4411-8261-6094424990E3}" dt="2026-09-11T07:24:57.362" v="12" actId="6549"/>
          <ac:spMkLst>
            <pc:docMk/>
            <pc:sldMk cId="0" sldId="266"/>
            <ac:spMk id="11" creationId="{00000000-0000-0000-0000-000000000000}"/>
          </ac:spMkLst>
        </pc:spChg>
      </pc:sldChg>
      <pc:sldChg chg="modSp mod">
        <pc:chgData name="ADD TURBO" userId="228a3ff56fcff54b" providerId="LiveId" clId="{3762ECE2-FFC4-4411-8261-6094424990E3}" dt="2026-09-11T07:29:14.715" v="35" actId="1036"/>
        <pc:sldMkLst>
          <pc:docMk/>
          <pc:sldMk cId="0" sldId="271"/>
        </pc:sldMkLst>
        <pc:spChg chg="mod">
          <ac:chgData name="ADD TURBO" userId="228a3ff56fcff54b" providerId="LiveId" clId="{3762ECE2-FFC4-4411-8261-6094424990E3}" dt="2026-09-11T07:28:59.764" v="14" actId="14100"/>
          <ac:spMkLst>
            <pc:docMk/>
            <pc:sldMk cId="0" sldId="271"/>
            <ac:spMk id="4" creationId="{00000000-0000-0000-0000-000000000000}"/>
          </ac:spMkLst>
        </pc:spChg>
        <pc:spChg chg="mod">
          <ac:chgData name="ADD TURBO" userId="228a3ff56fcff54b" providerId="LiveId" clId="{3762ECE2-FFC4-4411-8261-6094424990E3}" dt="2026-09-11T07:28:53.576" v="13" actId="14100"/>
          <ac:spMkLst>
            <pc:docMk/>
            <pc:sldMk cId="0" sldId="271"/>
            <ac:spMk id="5" creationId="{00000000-0000-0000-0000-000000000000}"/>
          </ac:spMkLst>
        </pc:spChg>
        <pc:spChg chg="mod">
          <ac:chgData name="ADD TURBO" userId="228a3ff56fcff54b" providerId="LiveId" clId="{3762ECE2-FFC4-4411-8261-6094424990E3}" dt="2026-09-11T07:29:14.715" v="35" actId="1036"/>
          <ac:spMkLst>
            <pc:docMk/>
            <pc:sldMk cId="0" sldId="271"/>
            <ac:spMk id="6" creationId="{00000000-0000-0000-0000-000000000000}"/>
          </ac:spMkLst>
        </pc:spChg>
        <pc:spChg chg="mod">
          <ac:chgData name="ADD TURBO" userId="228a3ff56fcff54b" providerId="LiveId" clId="{3762ECE2-FFC4-4411-8261-6094424990E3}" dt="2026-09-11T07:29:14.715" v="35" actId="1036"/>
          <ac:spMkLst>
            <pc:docMk/>
            <pc:sldMk cId="0" sldId="271"/>
            <ac:spMk id="7" creationId="{00000000-0000-0000-0000-000000000000}"/>
          </ac:spMkLst>
        </pc:spChg>
        <pc:spChg chg="mod">
          <ac:chgData name="ADD TURBO" userId="228a3ff56fcff54b" providerId="LiveId" clId="{3762ECE2-FFC4-4411-8261-6094424990E3}" dt="2026-09-11T07:29:14.715" v="35" actId="1036"/>
          <ac:spMkLst>
            <pc:docMk/>
            <pc:sldMk cId="0" sldId="271"/>
            <ac:spMk id="8" creationId="{00000000-0000-0000-0000-000000000000}"/>
          </ac:spMkLst>
        </pc:spChg>
        <pc:spChg chg="mod">
          <ac:chgData name="ADD TURBO" userId="228a3ff56fcff54b" providerId="LiveId" clId="{3762ECE2-FFC4-4411-8261-6094424990E3}" dt="2026-09-11T07:29:14.715" v="35" actId="1036"/>
          <ac:spMkLst>
            <pc:docMk/>
            <pc:sldMk cId="0" sldId="271"/>
            <ac:spMk id="9" creationId="{00000000-0000-0000-0000-000000000000}"/>
          </ac:spMkLst>
        </pc:spChg>
        <pc:spChg chg="mod">
          <ac:chgData name="ADD TURBO" userId="228a3ff56fcff54b" providerId="LiveId" clId="{3762ECE2-FFC4-4411-8261-6094424990E3}" dt="2026-09-11T07:29:14.715" v="35" actId="1036"/>
          <ac:spMkLst>
            <pc:docMk/>
            <pc:sldMk cId="0" sldId="271"/>
            <ac:spMk id="10" creationId="{00000000-0000-0000-0000-000000000000}"/>
          </ac:spMkLst>
        </pc:spChg>
        <pc:spChg chg="mod">
          <ac:chgData name="ADD TURBO" userId="228a3ff56fcff54b" providerId="LiveId" clId="{3762ECE2-FFC4-4411-8261-6094424990E3}" dt="2026-09-11T07:29:14.715" v="35" actId="1036"/>
          <ac:spMkLst>
            <pc:docMk/>
            <pc:sldMk cId="0" sldId="271"/>
            <ac:spMk id="11" creationId="{00000000-0000-0000-0000-000000000000}"/>
          </ac:spMkLst>
        </pc:spChg>
      </pc:sldChg>
      <pc:sldChg chg="modSp mod">
        <pc:chgData name="ADD TURBO" userId="228a3ff56fcff54b" providerId="LiveId" clId="{3762ECE2-FFC4-4411-8261-6094424990E3}" dt="2026-09-02T09:56:20.952" v="1" actId="14100"/>
        <pc:sldMkLst>
          <pc:docMk/>
          <pc:sldMk cId="0" sldId="279"/>
        </pc:sldMkLst>
        <pc:spChg chg="mod">
          <ac:chgData name="ADD TURBO" userId="228a3ff56fcff54b" providerId="LiveId" clId="{3762ECE2-FFC4-4411-8261-6094424990E3}" dt="2026-09-02T09:56:20.952" v="1" actId="14100"/>
          <ac:spMkLst>
            <pc:docMk/>
            <pc:sldMk cId="0" sldId="279"/>
            <ac:spMk id="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2299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60832-C2B3-86F4-DA2A-77862415D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F22AF-B944-54E1-903B-B0043D97B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4CB4EF-15B8-EFF4-2F15-0E8F4F355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FBB09-A520-761C-9C21-851BCE3230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8654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120640" cy="5120640"/>
          </a:xfrm>
          <a:prstGeom prst="ellipse">
            <a:avLst/>
          </a:prstGeom>
          <a:solidFill>
            <a:srgbClr val="25355C"/>
          </a:solidFill>
          <a:ln w="12700">
            <a:solidFill>
              <a:srgbClr val="2535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>
                <a:solidFill>
                  <a:srgbClr val="E7C9B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หลักสูตรอบรม 2 วัน</a:t>
            </a:r>
            <a:endParaRPr lang="en-US" sz="150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ทำงานด้วย Claude Chat + Claude Code</a:t>
            </a:r>
            <a:endParaRPr lang="en-US" sz="3400"/>
          </a:p>
          <a:p>
            <a:pPr marL="0" indent="0">
              <a:lnSpc>
                <a:spcPct val="1180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ร่วมกับ Git และ GitHub</a:t>
            </a:r>
            <a:endParaRPr lang="en-US" sz="3400"/>
          </a:p>
        </p:txBody>
      </p:sp>
      <p:sp>
        <p:nvSpPr>
          <p:cNvPr id="6" name="Text 4"/>
          <p:cNvSpPr txBox="1"/>
          <p:nvPr/>
        </p:nvSpPr>
        <p:spPr>
          <a:xfrm>
            <a:off x="731520" y="37947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ยกระดับจาก “ถาม-ตอบ” ไปสู่การใช้ AI สร้างงานจริง</a:t>
            </a:r>
            <a:endParaRPr lang="en-US" sz="1600"/>
          </a:p>
          <a:p>
            <a:pPr marL="0" indent="0">
              <a:lnSpc>
                <a:spcPct val="125000"/>
              </a:lnSpc>
              <a:buNone/>
            </a:pPr>
            <a:r>
              <a:rPr lang="en-US" sz="16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พร้อมเก็บประวัติการทำงานอย่างเป็นระบบ</a:t>
            </a:r>
            <a:endParaRPr lang="en-US" sz="1600"/>
          </a:p>
        </p:txBody>
      </p:sp>
      <p:sp>
        <p:nvSpPr>
          <p:cNvPr id="7" name="Text 5"/>
          <p:cNvSpPr txBox="1"/>
          <p:nvPr/>
        </p:nvSpPr>
        <p:spPr>
          <a:xfrm>
            <a:off x="731520" y="58064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8494A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ผู้สอน ______________     วันที่ ______________     สถานที่ ______________</a:t>
            </a:r>
            <a:endParaRPr lang="en-US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เปิดหลักสูตร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สิ่งที่คุณจะได้กลับบ้าน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484778" cy="22860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4767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08483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6090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เว็บแอปที่ใช้งานได้จริง</a:t>
            </a:r>
            <a:endParaRPr lang="en-US" sz="1600"/>
          </a:p>
        </p:txBody>
      </p:sp>
      <p:sp>
        <p:nvSpPr>
          <p:cNvPr id="8" name="Text 5"/>
          <p:cNvSpPr txBox="1"/>
          <p:nvPr/>
        </p:nvSpPr>
        <p:spPr>
          <a:xfrm>
            <a:off x="868680" y="3044952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ระบบบันทึกทะเบียนอุปกรณ์ IT ที่เปิดจากมือถือหรือคอมเครื่องไหนก็ได้ ผ่าน URL ของตัวเอง</a:t>
            </a:r>
            <a:endParaRPr lang="en-US" sz="1250"/>
          </a:p>
        </p:txBody>
      </p:sp>
      <p:sp>
        <p:nvSpPr>
          <p:cNvPr id="9" name="Shape 6"/>
          <p:cNvSpPr/>
          <p:nvPr/>
        </p:nvSpPr>
        <p:spPr>
          <a:xfrm>
            <a:off x="4353458" y="1691640"/>
            <a:ext cx="3484778" cy="22860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27778" y="194767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938" y="208483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27778" y="266090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Repository บน GitHub</a:t>
            </a:r>
            <a:endParaRPr lang="en-US" sz="1600"/>
          </a:p>
        </p:txBody>
      </p:sp>
      <p:sp>
        <p:nvSpPr>
          <p:cNvPr id="13" name="Text 9"/>
          <p:cNvSpPr txBox="1"/>
          <p:nvPr/>
        </p:nvSpPr>
        <p:spPr>
          <a:xfrm>
            <a:off x="4627778" y="3044952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มีประวัติการทำงานครบทุกขั้นตอน ย้อนกลับได้ทุกจุด และมี Pull Request ที่ผ่านการรีวิว</a:t>
            </a:r>
            <a:endParaRPr lang="en-US" sz="1250"/>
          </a:p>
        </p:txBody>
      </p:sp>
      <p:sp>
        <p:nvSpPr>
          <p:cNvPr id="14" name="Shape 10"/>
          <p:cNvSpPr/>
          <p:nvPr/>
        </p:nvSpPr>
        <p:spPr>
          <a:xfrm>
            <a:off x="8112557" y="1691640"/>
            <a:ext cx="3484778" cy="22860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86877" y="194767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4037" y="208483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86877" y="266090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วิธีทำงานที่ติดตัว</a:t>
            </a:r>
            <a:endParaRPr lang="en-US" sz="1600"/>
          </a:p>
        </p:txBody>
      </p:sp>
      <p:sp>
        <p:nvSpPr>
          <p:cNvPr id="18" name="Text 13"/>
          <p:cNvSpPr txBox="1"/>
          <p:nvPr/>
        </p:nvSpPr>
        <p:spPr>
          <a:xfrm>
            <a:off x="8386877" y="3044952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รูปแบบการสั่งงาน AI ตรวจงาน และเก็บประวัติ ที่เอาไปใช้กับงานประจำได้ทันที</a:t>
            </a:r>
            <a:endParaRPr lang="en-US" sz="1250"/>
          </a:p>
        </p:txBody>
      </p:sp>
      <p:sp>
        <p:nvSpPr>
          <p:cNvPr id="19" name="Shape 14"/>
          <p:cNvSpPr/>
          <p:nvPr/>
        </p:nvSpPr>
        <p:spPr>
          <a:xfrm>
            <a:off x="594360" y="4343400"/>
            <a:ext cx="11002975" cy="713232"/>
          </a:xfrm>
          <a:prstGeom prst="roundRect">
            <a:avLst>
              <a:gd name="adj" fmla="val 10256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95528" y="4526280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4617720"/>
            <a:ext cx="164592" cy="16459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52728" y="443484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ทุกหัวข้อคือการลงมือทำจริง ไม่มีช่วงบรรยายล้วน โปรเจคจะค่อย ๆ โตขึ้นทีละหัวข้อจนเสร็จในบ่ายวันที่สอง</a:t>
            </a:r>
            <a:endParaRPr lang="en-US" sz="1250"/>
          </a:p>
        </p:txBody>
      </p:sp>
      <p:sp>
        <p:nvSpPr>
          <p:cNvPr id="23" name="Text 17"/>
          <p:cNvSpPr txBox="1"/>
          <p:nvPr/>
        </p:nvSpPr>
        <p:spPr>
          <a:xfrm>
            <a:off x="594360" y="525780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โปรเจคที่จะทำ:  ระบบบันทึกทะเบียนอุปกรณ์ IT (IT Asset Tracker)</a:t>
            </a:r>
            <a:endParaRPr lang="en-US"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เปิดหลักสูตร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เครื่องมือ 4 ตัว ใครทำหน้าที่อะไร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2545004" cy="3200400"/>
          </a:xfrm>
          <a:prstGeom prst="roundRect">
            <a:avLst>
              <a:gd name="adj" fmla="val 3593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1051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9476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52374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Chat</a:t>
            </a:r>
            <a:endParaRPr lang="en-US" sz="1600"/>
          </a:p>
        </p:txBody>
      </p:sp>
      <p:sp>
        <p:nvSpPr>
          <p:cNvPr id="8" name="Text 5"/>
          <p:cNvSpPr txBox="1"/>
          <p:nvPr/>
        </p:nvSpPr>
        <p:spPr>
          <a:xfrm>
            <a:off x="868680" y="2907792"/>
            <a:ext cx="19963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ที่ปรึกษาในห้องประชุม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คิด วางแผน ถกแนวทาง ร่างเอกสาร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แตะไฟล์ในเครื่องเราไม่ได้</a:t>
            </a:r>
            <a:endParaRPr lang="en-US" sz="1250"/>
          </a:p>
        </p:txBody>
      </p:sp>
      <p:sp>
        <p:nvSpPr>
          <p:cNvPr id="9" name="Shape 6"/>
          <p:cNvSpPr/>
          <p:nvPr/>
        </p:nvSpPr>
        <p:spPr>
          <a:xfrm>
            <a:off x="3413684" y="1554480"/>
            <a:ext cx="2545004" cy="3200400"/>
          </a:xfrm>
          <a:prstGeom prst="roundRect">
            <a:avLst>
              <a:gd name="adj" fmla="val 3593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88004" y="181051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164" y="19476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88004" y="252374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</a:t>
            </a:r>
            <a:endParaRPr lang="en-US" sz="1600"/>
          </a:p>
        </p:txBody>
      </p:sp>
      <p:sp>
        <p:nvSpPr>
          <p:cNvPr id="13" name="Text 9"/>
          <p:cNvSpPr txBox="1"/>
          <p:nvPr/>
        </p:nvSpPr>
        <p:spPr>
          <a:xfrm>
            <a:off x="3688004" y="2907792"/>
            <a:ext cx="19963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ช่างที่มาถึงหน้างาน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อ่านและแก้ไฟล์จริง ทำงานอยู่ข้าง ๆ โค้ดใน VS Code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ต้องมีคนคุมงานเสมอ</a:t>
            </a:r>
            <a:endParaRPr lang="en-US" sz="1250"/>
          </a:p>
        </p:txBody>
      </p:sp>
      <p:sp>
        <p:nvSpPr>
          <p:cNvPr id="14" name="Shape 10"/>
          <p:cNvSpPr/>
          <p:nvPr/>
        </p:nvSpPr>
        <p:spPr>
          <a:xfrm>
            <a:off x="6233008" y="1554480"/>
            <a:ext cx="2545004" cy="3200400"/>
          </a:xfrm>
          <a:prstGeom prst="roundRect">
            <a:avLst>
              <a:gd name="adj" fmla="val 3593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07328" y="181051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194767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07328" y="252374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</a:t>
            </a:r>
            <a:endParaRPr lang="en-US" sz="1600"/>
          </a:p>
        </p:txBody>
      </p:sp>
      <p:sp>
        <p:nvSpPr>
          <p:cNvPr id="18" name="Text 13"/>
          <p:cNvSpPr txBox="1"/>
          <p:nvPr/>
        </p:nvSpPr>
        <p:spPr>
          <a:xfrm>
            <a:off x="6507328" y="2907792"/>
            <a:ext cx="19963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สมุดบันทึก + ปุ่มย้อนเวลา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บันทึกทุกการเปลี่ยนแปลงในเครื่อง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แชร์ให้คนอื่นไม่ได้</a:t>
            </a:r>
            <a:endParaRPr lang="en-US" sz="1250"/>
          </a:p>
        </p:txBody>
      </p:sp>
      <p:sp>
        <p:nvSpPr>
          <p:cNvPr id="19" name="Shape 14"/>
          <p:cNvSpPr/>
          <p:nvPr/>
        </p:nvSpPr>
        <p:spPr>
          <a:xfrm>
            <a:off x="9052331" y="1554480"/>
            <a:ext cx="2545004" cy="3200400"/>
          </a:xfrm>
          <a:prstGeom prst="roundRect">
            <a:avLst>
              <a:gd name="adj" fmla="val 3593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26651" y="181051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3811" y="194767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651" y="252374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</a:t>
            </a:r>
            <a:endParaRPr lang="en-US" sz="1600"/>
          </a:p>
        </p:txBody>
      </p:sp>
      <p:sp>
        <p:nvSpPr>
          <p:cNvPr id="23" name="Text 17"/>
          <p:cNvSpPr txBox="1"/>
          <p:nvPr/>
        </p:nvSpPr>
        <p:spPr>
          <a:xfrm>
            <a:off x="9326651" y="2907792"/>
            <a:ext cx="19963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ตู้เก็บของกลางบนอินเทอร์เน็ต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สำรองงาน ทำงานร่วมกัน เผยแพร่เว็บ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ไม่ได้เขียนโค้ดให้เรา</a:t>
            </a:r>
            <a:endParaRPr lang="en-US" sz="1250"/>
          </a:p>
        </p:txBody>
      </p:sp>
      <p:sp>
        <p:nvSpPr>
          <p:cNvPr id="24" name="Shape 18"/>
          <p:cNvSpPr/>
          <p:nvPr/>
        </p:nvSpPr>
        <p:spPr>
          <a:xfrm>
            <a:off x="594360" y="5029200"/>
            <a:ext cx="11002975" cy="777240"/>
          </a:xfrm>
          <a:prstGeom prst="roundRect">
            <a:avLst>
              <a:gd name="adj" fmla="val 11765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94360" y="502920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คิดที่ Chat   ·   ทำที่ Code   ·   บันทึกที่ Git   ·   แชร์ที่ GitHub</a:t>
            </a:r>
            <a:endParaRPr lang="en-US"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เปิดหลักสูตร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VS Code คือโต๊ะทำงานของเราตลอด 2 วัน</a:t>
            </a:r>
            <a:endParaRPr lang="en-US" sz="3000"/>
          </a:p>
        </p:txBody>
      </p:sp>
      <p:sp>
        <p:nvSpPr>
          <p:cNvPr id="4" name="Text 2"/>
          <p:cNvSpPr txBox="1"/>
          <p:nvPr/>
        </p:nvSpPr>
        <p:spPr>
          <a:xfrm>
            <a:off x="594360" y="12984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ทุกอย่างอยู่ในหน้าจอเดียว ไม่ต้องสลับไปมาระหว่างหลายโปรแกรม</a:t>
            </a:r>
            <a:endParaRPr lang="en-US" sz="150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2017715" cy="2103120"/>
          </a:xfrm>
          <a:prstGeom prst="roundRect">
            <a:avLst>
              <a:gd name="adj" fmla="val 453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221992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2798064"/>
            <a:ext cx="14690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Explorer</a:t>
            </a:r>
            <a:endParaRPr lang="en-US" sz="1600"/>
          </a:p>
        </p:txBody>
      </p:sp>
      <p:sp>
        <p:nvSpPr>
          <p:cNvPr id="9" name="Text 6"/>
          <p:cNvSpPr txBox="1"/>
          <p:nvPr/>
        </p:nvSpPr>
        <p:spPr>
          <a:xfrm>
            <a:off x="868680" y="3182112"/>
            <a:ext cx="146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ดูไฟล์ทั้งหมดในโปรเจค</a:t>
            </a:r>
            <a:endParaRPr lang="en-US" sz="1200"/>
          </a:p>
        </p:txBody>
      </p:sp>
      <p:sp>
        <p:nvSpPr>
          <p:cNvPr id="10" name="Shape 7"/>
          <p:cNvSpPr/>
          <p:nvPr/>
        </p:nvSpPr>
        <p:spPr>
          <a:xfrm>
            <a:off x="2840675" y="1828800"/>
            <a:ext cx="2017715" cy="2103120"/>
          </a:xfrm>
          <a:prstGeom prst="roundRect">
            <a:avLst>
              <a:gd name="adj" fmla="val 453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14995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2155" y="222199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14995" y="2798064"/>
            <a:ext cx="14690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พื้นที่แก้ไฟล์</a:t>
            </a:r>
            <a:endParaRPr lang="en-US" sz="1600"/>
          </a:p>
        </p:txBody>
      </p:sp>
      <p:sp>
        <p:nvSpPr>
          <p:cNvPr id="14" name="Text 10"/>
          <p:cNvSpPr txBox="1"/>
          <p:nvPr/>
        </p:nvSpPr>
        <p:spPr>
          <a:xfrm>
            <a:off x="3114995" y="3182112"/>
            <a:ext cx="146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อ่านไฟล์ และดูหน้าเทียบ diff</a:t>
            </a:r>
            <a:endParaRPr lang="en-US" sz="1200"/>
          </a:p>
        </p:txBody>
      </p:sp>
      <p:sp>
        <p:nvSpPr>
          <p:cNvPr id="15" name="Shape 11"/>
          <p:cNvSpPr/>
          <p:nvPr/>
        </p:nvSpPr>
        <p:spPr>
          <a:xfrm>
            <a:off x="5086990" y="1828800"/>
            <a:ext cx="2017715" cy="2103120"/>
          </a:xfrm>
          <a:prstGeom prst="roundRect">
            <a:avLst>
              <a:gd name="adj" fmla="val 453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61310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8470" y="222199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61310" y="2798064"/>
            <a:ext cx="14690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Terminal ในตัว</a:t>
            </a:r>
            <a:endParaRPr lang="en-US" sz="1600"/>
          </a:p>
        </p:txBody>
      </p:sp>
      <p:sp>
        <p:nvSpPr>
          <p:cNvPr id="19" name="Text 14"/>
          <p:cNvSpPr txBox="1"/>
          <p:nvPr/>
        </p:nvSpPr>
        <p:spPr>
          <a:xfrm>
            <a:off x="5361310" y="3182112"/>
            <a:ext cx="146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พิมพ์คำสั่ง Git ทั้งหมด (Ctrl+`)</a:t>
            </a:r>
            <a:endParaRPr lang="en-US" sz="1200"/>
          </a:p>
        </p:txBody>
      </p:sp>
      <p:sp>
        <p:nvSpPr>
          <p:cNvPr id="20" name="Shape 15"/>
          <p:cNvSpPr/>
          <p:nvPr/>
        </p:nvSpPr>
        <p:spPr>
          <a:xfrm>
            <a:off x="7333305" y="1828800"/>
            <a:ext cx="2017715" cy="2103120"/>
          </a:xfrm>
          <a:prstGeom prst="roundRect">
            <a:avLst>
              <a:gd name="adj" fmla="val 453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607625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4785" y="222199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607625" y="2798064"/>
            <a:ext cx="14690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Source Control</a:t>
            </a:r>
            <a:endParaRPr lang="en-US" sz="1600"/>
          </a:p>
        </p:txBody>
      </p:sp>
      <p:sp>
        <p:nvSpPr>
          <p:cNvPr id="24" name="Text 18"/>
          <p:cNvSpPr txBox="1"/>
          <p:nvPr/>
        </p:nvSpPr>
        <p:spPr>
          <a:xfrm>
            <a:off x="7607625" y="3182112"/>
            <a:ext cx="146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เห็นไฟล์ที่เปลี่ยนแบบเป็นภาพ</a:t>
            </a:r>
            <a:endParaRPr lang="en-US" sz="1200"/>
          </a:p>
        </p:txBody>
      </p:sp>
      <p:sp>
        <p:nvSpPr>
          <p:cNvPr id="25" name="Shape 19"/>
          <p:cNvSpPr/>
          <p:nvPr/>
        </p:nvSpPr>
        <p:spPr>
          <a:xfrm>
            <a:off x="9579620" y="1828800"/>
            <a:ext cx="2017715" cy="2103120"/>
          </a:xfrm>
          <a:prstGeom prst="roundRect">
            <a:avLst>
              <a:gd name="adj" fmla="val 453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853940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1100" y="2221992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853940" y="2798064"/>
            <a:ext cx="14690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</a:t>
            </a:r>
            <a:endParaRPr lang="en-US" sz="1600"/>
          </a:p>
        </p:txBody>
      </p:sp>
      <p:sp>
        <p:nvSpPr>
          <p:cNvPr id="29" name="Text 22"/>
          <p:cNvSpPr txBox="1"/>
          <p:nvPr/>
        </p:nvSpPr>
        <p:spPr>
          <a:xfrm>
            <a:off x="9853940" y="3182112"/>
            <a:ext cx="146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หน้าต่างสนทนาและอนุมัติงาน</a:t>
            </a:r>
            <a:endParaRPr lang="en-US" sz="1200"/>
          </a:p>
        </p:txBody>
      </p:sp>
      <p:sp>
        <p:nvSpPr>
          <p:cNvPr id="30" name="Shape 23"/>
          <p:cNvSpPr/>
          <p:nvPr/>
        </p:nvSpPr>
        <p:spPr>
          <a:xfrm>
            <a:off x="594360" y="4297680"/>
            <a:ext cx="11002975" cy="822960"/>
          </a:xfrm>
          <a:prstGeom prst="roundRect">
            <a:avLst>
              <a:gd name="adj" fmla="val 8889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795528" y="4535424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4626864"/>
            <a:ext cx="164592" cy="16459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252728" y="4389120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ข้อดีที่สำคัญที่สุด: Terminal ในตัวเปิดที่โฟลเดอร์โปรเจคให้อัตโนมัติ ตัดปัญหา “อยู่ผิดโฟลเดอร์” ซึ่งเป็นสาเหตุความสับสนอันดับหนึ่งของผู้เริ่มต้นทิ้งไปได้เกือบทั้งหมด</a:t>
            </a:r>
            <a:endParaRPr lang="en-US" sz="1250"/>
          </a:p>
        </p:txBody>
      </p:sp>
      <p:sp>
        <p:nvSpPr>
          <p:cNvPr id="34" name="Shape 26"/>
          <p:cNvSpPr/>
          <p:nvPr/>
        </p:nvSpPr>
        <p:spPr>
          <a:xfrm>
            <a:off x="594360" y="5257800"/>
            <a:ext cx="11002975" cy="713232"/>
          </a:xfrm>
          <a:prstGeom prst="roundRect">
            <a:avLst>
              <a:gd name="adj" fmla="val 10256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795528" y="5440680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532120"/>
            <a:ext cx="164592" cy="164592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252728" y="534924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ส่วนขยาย Claude Code มีตัวโปรแกรมในตัวอยู่แล้ว ไม่ต้องติดตั้งแยก และหลักสูตรนี้ไม่ต้องพิมพ์คำสั่ง claude ในเทอร์มินัลเลย</a:t>
            </a:r>
            <a:endParaRPr lang="en-US" sz="12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เปิดหลักสูตร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แผนที่ 2 วัน — โปรเจคโตขึ้นทีละหัวข้อ</a:t>
            </a:r>
            <a:endParaRPr lang="en-US" sz="3000"/>
          </a:p>
        </p:txBody>
      </p:sp>
      <p:sp>
        <p:nvSpPr>
          <p:cNvPr id="4" name="Text 2"/>
          <p:cNvSpPr txBox="1"/>
          <p:nvPr/>
        </p:nvSpPr>
        <p:spPr>
          <a:xfrm>
            <a:off x="594360" y="1417320"/>
            <a:ext cx="531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วันที่ 1 — จากบทสนทนา สู่โค้ดที่บันทึกได้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1956816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956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/>
          </a:p>
        </p:txBody>
      </p:sp>
      <p:sp>
        <p:nvSpPr>
          <p:cNvPr id="8" name="Text 6"/>
          <p:cNvSpPr txBox="1"/>
          <p:nvPr/>
        </p:nvSpPr>
        <p:spPr>
          <a:xfrm>
            <a:off x="1179576" y="1828800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chat ให้ได้ผลจริง</a:t>
            </a:r>
            <a:endParaRPr lang="en-US" sz="1250"/>
          </a:p>
        </p:txBody>
      </p:sp>
      <p:sp>
        <p:nvSpPr>
          <p:cNvPr id="9" name="Text 7"/>
          <p:cNvSpPr txBox="1"/>
          <p:nvPr/>
        </p:nvSpPr>
        <p:spPr>
          <a:xfrm>
            <a:off x="4104810" y="1828800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ได้ขอบเขตระบบ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594360" y="2542032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664" y="2670048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" y="2670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/>
          </a:p>
        </p:txBody>
      </p:sp>
      <p:sp>
        <p:nvSpPr>
          <p:cNvPr id="13" name="Text 11"/>
          <p:cNvSpPr txBox="1"/>
          <p:nvPr/>
        </p:nvSpPr>
        <p:spPr>
          <a:xfrm>
            <a:off x="1179576" y="2542032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เปลี่ยนบทสนทนาเป็นเอกสาร</a:t>
            </a:r>
            <a:endParaRPr lang="en-US" sz="1250"/>
          </a:p>
        </p:txBody>
      </p:sp>
      <p:sp>
        <p:nvSpPr>
          <p:cNvPr id="14" name="Text 12"/>
          <p:cNvSpPr txBox="1"/>
          <p:nvPr/>
        </p:nvSpPr>
        <p:spPr>
          <a:xfrm>
            <a:off x="4104810" y="2542032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SPEC.md + README.md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594360" y="3255264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" y="3383280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0664" y="3383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/>
          </a:p>
        </p:txBody>
      </p:sp>
      <p:sp>
        <p:nvSpPr>
          <p:cNvPr id="18" name="Text 16"/>
          <p:cNvSpPr txBox="1"/>
          <p:nvPr/>
        </p:nvSpPr>
        <p:spPr>
          <a:xfrm>
            <a:off x="1179576" y="3255264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 VS Code + Claude Code</a:t>
            </a:r>
            <a:r>
              <a:rPr lang="th-TH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+ Git</a:t>
            </a:r>
            <a:endParaRPr lang="en-US" sz="1250"/>
          </a:p>
        </p:txBody>
      </p:sp>
      <p:sp>
        <p:nvSpPr>
          <p:cNvPr id="19" name="Text 17"/>
          <p:cNvSpPr txBox="1"/>
          <p:nvPr/>
        </p:nvSpPr>
        <p:spPr>
          <a:xfrm>
            <a:off x="4104810" y="3255264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เครื่องพร้อมใช้</a:t>
            </a:r>
            <a:endParaRPr lang="en-US" sz="1100"/>
          </a:p>
        </p:txBody>
      </p:sp>
      <p:sp>
        <p:nvSpPr>
          <p:cNvPr id="20" name="Shape 18"/>
          <p:cNvSpPr/>
          <p:nvPr/>
        </p:nvSpPr>
        <p:spPr>
          <a:xfrm>
            <a:off x="594360" y="3968496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0664" y="4096512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0664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/>
          </a:p>
        </p:txBody>
      </p:sp>
      <p:sp>
        <p:nvSpPr>
          <p:cNvPr id="23" name="Text 21"/>
          <p:cNvSpPr txBox="1"/>
          <p:nvPr/>
        </p:nvSpPr>
        <p:spPr>
          <a:xfrm>
            <a:off x="1179576" y="3968496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พื้นฐาน</a:t>
            </a:r>
            <a:endParaRPr lang="en-US" sz="1250"/>
          </a:p>
        </p:txBody>
      </p:sp>
      <p:sp>
        <p:nvSpPr>
          <p:cNvPr id="24" name="Text 22"/>
          <p:cNvSpPr txBox="1"/>
          <p:nvPr/>
        </p:nvSpPr>
        <p:spPr>
          <a:xfrm>
            <a:off x="4104810" y="3968496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commit แรก</a:t>
            </a:r>
            <a:endParaRPr lang="en-US" sz="1100"/>
          </a:p>
        </p:txBody>
      </p:sp>
      <p:sp>
        <p:nvSpPr>
          <p:cNvPr id="25" name="Shape 23"/>
          <p:cNvSpPr/>
          <p:nvPr/>
        </p:nvSpPr>
        <p:spPr>
          <a:xfrm>
            <a:off x="594360" y="4681728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" y="4809744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0664" y="4809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/>
          </a:p>
        </p:txBody>
      </p:sp>
      <p:sp>
        <p:nvSpPr>
          <p:cNvPr id="28" name="Text 26"/>
          <p:cNvSpPr txBox="1"/>
          <p:nvPr/>
        </p:nvSpPr>
        <p:spPr>
          <a:xfrm>
            <a:off x="1179576" y="4681728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</a:t>
            </a:r>
            <a:endParaRPr lang="en-US" sz="1250"/>
          </a:p>
        </p:txBody>
      </p:sp>
      <p:sp>
        <p:nvSpPr>
          <p:cNvPr id="29" name="Text 27"/>
          <p:cNvSpPr txBox="1"/>
          <p:nvPr/>
        </p:nvSpPr>
        <p:spPr>
          <a:xfrm>
            <a:off x="4104810" y="4681728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งานขึ้นออนไลน์</a:t>
            </a:r>
            <a:endParaRPr lang="en-US" sz="1100"/>
          </a:p>
        </p:txBody>
      </p:sp>
      <p:sp>
        <p:nvSpPr>
          <p:cNvPr id="30" name="Shape 28"/>
          <p:cNvSpPr/>
          <p:nvPr/>
        </p:nvSpPr>
        <p:spPr>
          <a:xfrm>
            <a:off x="594360" y="5394960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" y="5522976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0664" y="5522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200"/>
          </a:p>
        </p:txBody>
      </p:sp>
      <p:sp>
        <p:nvSpPr>
          <p:cNvPr id="33" name="Text 31"/>
          <p:cNvSpPr txBox="1"/>
          <p:nvPr/>
        </p:nvSpPr>
        <p:spPr>
          <a:xfrm>
            <a:off x="1179576" y="5394960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ครั้งแรก</a:t>
            </a:r>
            <a:endParaRPr lang="en-US" sz="1250"/>
          </a:p>
        </p:txBody>
      </p:sp>
      <p:sp>
        <p:nvSpPr>
          <p:cNvPr id="34" name="Text 32"/>
          <p:cNvSpPr txBox="1"/>
          <p:nvPr/>
        </p:nvSpPr>
        <p:spPr>
          <a:xfrm>
            <a:off x="4104810" y="5394960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เว็บหน้าแรกทำงานได้</a:t>
            </a:r>
            <a:endParaRPr lang="en-US" sz="1100"/>
          </a:p>
        </p:txBody>
      </p:sp>
      <p:sp>
        <p:nvSpPr>
          <p:cNvPr id="35" name="Text 33"/>
          <p:cNvSpPr txBox="1"/>
          <p:nvPr/>
        </p:nvSpPr>
        <p:spPr>
          <a:xfrm>
            <a:off x="6278728" y="1417320"/>
            <a:ext cx="531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วันที่ 2 — ทำงานร่วมกันและส่งมอบ</a:t>
            </a:r>
            <a:endParaRPr lang="en-US" sz="1400"/>
          </a:p>
        </p:txBody>
      </p:sp>
      <p:sp>
        <p:nvSpPr>
          <p:cNvPr id="36" name="Shape 34"/>
          <p:cNvSpPr/>
          <p:nvPr/>
        </p:nvSpPr>
        <p:spPr>
          <a:xfrm>
            <a:off x="6278728" y="1828800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25032" y="1956816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25032" y="1956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1200"/>
          </a:p>
        </p:txBody>
      </p:sp>
      <p:sp>
        <p:nvSpPr>
          <p:cNvPr id="39" name="Text 37"/>
          <p:cNvSpPr txBox="1"/>
          <p:nvPr/>
        </p:nvSpPr>
        <p:spPr>
          <a:xfrm>
            <a:off x="6863944" y="1828800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 branch ทำฟีเจอร์</a:t>
            </a:r>
            <a:endParaRPr lang="en-US" sz="1250"/>
          </a:p>
        </p:txBody>
      </p:sp>
      <p:sp>
        <p:nvSpPr>
          <p:cNvPr id="40" name="Text 38"/>
          <p:cNvSpPr txBox="1"/>
          <p:nvPr/>
        </p:nvSpPr>
        <p:spPr>
          <a:xfrm>
            <a:off x="9789178" y="1828800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ค้นหาและกรองข้อมูล</a:t>
            </a:r>
            <a:endParaRPr lang="en-US" sz="1100"/>
          </a:p>
        </p:txBody>
      </p:sp>
      <p:sp>
        <p:nvSpPr>
          <p:cNvPr id="41" name="Shape 39"/>
          <p:cNvSpPr/>
          <p:nvPr/>
        </p:nvSpPr>
        <p:spPr>
          <a:xfrm>
            <a:off x="6278728" y="2542032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25032" y="2670048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25032" y="2670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</a:t>
            </a:r>
            <a:endParaRPr lang="en-US" sz="1200"/>
          </a:p>
        </p:txBody>
      </p:sp>
      <p:sp>
        <p:nvSpPr>
          <p:cNvPr id="44" name="Text 42"/>
          <p:cNvSpPr txBox="1"/>
          <p:nvPr/>
        </p:nvSpPr>
        <p:spPr>
          <a:xfrm>
            <a:off x="6863944" y="2542032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แบบใช้งานจริง</a:t>
            </a:r>
            <a:endParaRPr lang="en-US" sz="1250"/>
          </a:p>
        </p:txBody>
      </p:sp>
      <p:sp>
        <p:nvSpPr>
          <p:cNvPr id="45" name="Text 43"/>
          <p:cNvSpPr txBox="1"/>
          <p:nvPr/>
        </p:nvSpPr>
        <p:spPr>
          <a:xfrm>
            <a:off x="9789178" y="2542032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แก้ไข/ลบ + ส่งออก CSV</a:t>
            </a:r>
            <a:endParaRPr lang="en-US" sz="1100"/>
          </a:p>
        </p:txBody>
      </p:sp>
      <p:sp>
        <p:nvSpPr>
          <p:cNvPr id="46" name="Shape 44"/>
          <p:cNvSpPr/>
          <p:nvPr/>
        </p:nvSpPr>
        <p:spPr>
          <a:xfrm>
            <a:off x="6278728" y="3255264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25032" y="3383280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25032" y="3383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</a:t>
            </a:r>
            <a:endParaRPr lang="en-US" sz="1200"/>
          </a:p>
        </p:txBody>
      </p:sp>
      <p:sp>
        <p:nvSpPr>
          <p:cNvPr id="49" name="Text 47"/>
          <p:cNvSpPr txBox="1"/>
          <p:nvPr/>
        </p:nvSpPr>
        <p:spPr>
          <a:xfrm>
            <a:off x="6863944" y="3255264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Pull Request และการรีวิว</a:t>
            </a:r>
            <a:endParaRPr lang="en-US" sz="1250"/>
          </a:p>
        </p:txBody>
      </p:sp>
      <p:sp>
        <p:nvSpPr>
          <p:cNvPr id="50" name="Text 48"/>
          <p:cNvSpPr txBox="1"/>
          <p:nvPr/>
        </p:nvSpPr>
        <p:spPr>
          <a:xfrm>
            <a:off x="9789178" y="3255264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รวมทุกฟีเจอร์</a:t>
            </a:r>
            <a:endParaRPr lang="en-US" sz="1100"/>
          </a:p>
        </p:txBody>
      </p:sp>
      <p:sp>
        <p:nvSpPr>
          <p:cNvPr id="51" name="Shape 49"/>
          <p:cNvSpPr/>
          <p:nvPr/>
        </p:nvSpPr>
        <p:spPr>
          <a:xfrm>
            <a:off x="6278728" y="3968496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25032" y="4096512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425032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200"/>
          </a:p>
        </p:txBody>
      </p:sp>
      <p:sp>
        <p:nvSpPr>
          <p:cNvPr id="54" name="Text 52"/>
          <p:cNvSpPr txBox="1"/>
          <p:nvPr/>
        </p:nvSpPr>
        <p:spPr>
          <a:xfrm>
            <a:off x="6863944" y="3968496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เผยแพร่ผลงาน</a:t>
            </a:r>
            <a:endParaRPr lang="en-US" sz="1250"/>
          </a:p>
        </p:txBody>
      </p:sp>
      <p:sp>
        <p:nvSpPr>
          <p:cNvPr id="55" name="Text 53"/>
          <p:cNvSpPr txBox="1"/>
          <p:nvPr/>
        </p:nvSpPr>
        <p:spPr>
          <a:xfrm>
            <a:off x="9789178" y="3968496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ได้ URL ใช้งานจริง</a:t>
            </a:r>
            <a:endParaRPr lang="en-US" sz="1100"/>
          </a:p>
        </p:txBody>
      </p:sp>
      <p:sp>
        <p:nvSpPr>
          <p:cNvPr id="56" name="Shape 54"/>
          <p:cNvSpPr/>
          <p:nvPr/>
        </p:nvSpPr>
        <p:spPr>
          <a:xfrm>
            <a:off x="6278728" y="4681728"/>
            <a:ext cx="5318608" cy="603504"/>
          </a:xfrm>
          <a:prstGeom prst="roundRect">
            <a:avLst>
              <a:gd name="adj" fmla="val 1212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25032" y="4809744"/>
            <a:ext cx="347472" cy="347472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25032" y="4809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</a:t>
            </a:r>
            <a:endParaRPr lang="en-US" sz="1200"/>
          </a:p>
        </p:txBody>
      </p:sp>
      <p:sp>
        <p:nvSpPr>
          <p:cNvPr id="59" name="Text 57"/>
          <p:cNvSpPr txBox="1"/>
          <p:nvPr/>
        </p:nvSpPr>
        <p:spPr>
          <a:xfrm>
            <a:off x="6863944" y="4681728"/>
            <a:ext cx="29252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นำไปใช้กับงานจริง</a:t>
            </a:r>
            <a:endParaRPr lang="en-US" sz="1250"/>
          </a:p>
        </p:txBody>
      </p:sp>
      <p:sp>
        <p:nvSpPr>
          <p:cNvPr id="60" name="Text 58"/>
          <p:cNvSpPr txBox="1"/>
          <p:nvPr/>
        </p:nvSpPr>
        <p:spPr>
          <a:xfrm>
            <a:off x="9789178" y="4681728"/>
            <a:ext cx="16618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แผนของตัวเอง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1188720"/>
            <a:ext cx="4206240" cy="420624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>
                <a:solidFill>
                  <a:srgbClr val="E7C9B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วันที่ 1</a:t>
            </a:r>
            <a:endParaRPr lang="en-US" sz="1500"/>
          </a:p>
        </p:txBody>
      </p:sp>
      <p:sp>
        <p:nvSpPr>
          <p:cNvPr id="4" name="Text 2"/>
          <p:cNvSpPr txBox="1"/>
          <p:nvPr/>
        </p:nvSpPr>
        <p:spPr>
          <a:xfrm>
            <a:off x="731520" y="2487168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จากบทสนทนา สู่โค้ดที่บันทึกได้</a:t>
            </a:r>
            <a:endParaRPr lang="en-US" sz="340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1–6   ·   09.00 – 16.30 น.</a:t>
            </a:r>
            <a:endParaRPr lang="en-US" sz="1500"/>
          </a:p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เป้าหมายของวันนี้: กลับบ้านพร้อม repository บน GitHub ที่มีเว็บหน้าแรกทำงานได้</a:t>
            </a:r>
            <a:endParaRPr lang="en-US" sz="15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  ·  09.30 – 10.15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Claude chat ให้ได้ผลจริง</a:t>
            </a:r>
            <a:endParaRPr lang="en-US" sz="3000"/>
          </a:p>
        </p:txBody>
      </p:sp>
      <p:sp>
        <p:nvSpPr>
          <p:cNvPr id="4" name="Text 2"/>
          <p:cNvSpPr txBox="1"/>
          <p:nvPr/>
        </p:nvSpPr>
        <p:spPr>
          <a:xfrm>
            <a:off x="594360" y="12984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เป้าหมาย: เขียน prompt ที่มีบริบทครบ ใช้เทคนิคขอทางเลือกและให้ AI ถามกลับได้</a:t>
            </a:r>
            <a:endParaRPr lang="en-US" sz="150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221992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279806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1. ให้บริบท</a:t>
            </a:r>
            <a:endParaRPr lang="en-US" sz="1600"/>
          </a:p>
        </p:txBody>
      </p:sp>
      <p:sp>
        <p:nvSpPr>
          <p:cNvPr id="9" name="Text 6"/>
          <p:cNvSpPr txBox="1"/>
          <p:nvPr/>
        </p:nvSpPr>
        <p:spPr>
          <a:xfrm>
            <a:off x="868680" y="3182112"/>
            <a:ext cx="19963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บอกว่าใครใช้ ใช้ตอนไหน ปัญหาปัจจุบันคืออะไร และมีข้อจำกัดอะไร</a:t>
            </a:r>
            <a:endParaRPr lang="en-US" sz="1200"/>
          </a:p>
        </p:txBody>
      </p:sp>
      <p:sp>
        <p:nvSpPr>
          <p:cNvPr id="10" name="Shape 7"/>
          <p:cNvSpPr/>
          <p:nvPr/>
        </p:nvSpPr>
        <p:spPr>
          <a:xfrm>
            <a:off x="3413684" y="1828800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88004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164" y="222199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88004" y="279806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 ขอทางเลือก</a:t>
            </a:r>
            <a:endParaRPr lang="en-US" sz="1600"/>
          </a:p>
        </p:txBody>
      </p:sp>
      <p:sp>
        <p:nvSpPr>
          <p:cNvPr id="14" name="Text 10"/>
          <p:cNvSpPr txBox="1"/>
          <p:nvPr/>
        </p:nvSpPr>
        <p:spPr>
          <a:xfrm>
            <a:off x="3688004" y="3182112"/>
            <a:ext cx="19963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 3 แนวทางพร้อมข้อดีข้อเสีย แทนที่จะรับคำตอบเดียวมาใช้เลย</a:t>
            </a:r>
            <a:endParaRPr lang="en-US" sz="1200"/>
          </a:p>
        </p:txBody>
      </p:sp>
      <p:sp>
        <p:nvSpPr>
          <p:cNvPr id="15" name="Shape 11"/>
          <p:cNvSpPr/>
          <p:nvPr/>
        </p:nvSpPr>
        <p:spPr>
          <a:xfrm>
            <a:off x="6233008" y="1828800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07328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222199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7328" y="279806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3. ให้ถามกลับก่อน</a:t>
            </a:r>
            <a:endParaRPr lang="en-US" sz="1600"/>
          </a:p>
        </p:txBody>
      </p:sp>
      <p:sp>
        <p:nvSpPr>
          <p:cNvPr id="19" name="Text 14"/>
          <p:cNvSpPr txBox="1"/>
          <p:nvPr/>
        </p:nvSpPr>
        <p:spPr>
          <a:xfrm>
            <a:off x="6507328" y="3182112"/>
            <a:ext cx="19963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คำถามที่ AI ถามกลับ คือสิ่งที่เราลืมคิดไปเอง</a:t>
            </a:r>
            <a:endParaRPr lang="en-US" sz="1200"/>
          </a:p>
        </p:txBody>
      </p:sp>
      <p:sp>
        <p:nvSpPr>
          <p:cNvPr id="20" name="Shape 15"/>
          <p:cNvSpPr/>
          <p:nvPr/>
        </p:nvSpPr>
        <p:spPr>
          <a:xfrm>
            <a:off x="9052331" y="1828800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26651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3811" y="222199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326651" y="279806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4. ขัดเกลาต่อ</a:t>
            </a:r>
            <a:endParaRPr lang="en-US" sz="1600"/>
          </a:p>
        </p:txBody>
      </p:sp>
      <p:sp>
        <p:nvSpPr>
          <p:cNvPr id="24" name="Text 18"/>
          <p:cNvSpPr txBox="1"/>
          <p:nvPr/>
        </p:nvSpPr>
        <p:spPr>
          <a:xfrm>
            <a:off x="9326651" y="3182112"/>
            <a:ext cx="19963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บอกว่าอะไรยังไม่ใช่ แทนที่จะเปิดบทสนทนาใหม่ทั้งหมด</a:t>
            </a:r>
            <a:endParaRPr lang="en-US" sz="1200"/>
          </a:p>
        </p:txBody>
      </p:sp>
      <p:sp>
        <p:nvSpPr>
          <p:cNvPr id="25" name="Shape 19"/>
          <p:cNvSpPr/>
          <p:nvPr/>
        </p:nvSpPr>
        <p:spPr>
          <a:xfrm>
            <a:off x="594360" y="4434840"/>
            <a:ext cx="11002975" cy="713232"/>
          </a:xfrm>
          <a:prstGeom prst="roundRect">
            <a:avLst>
              <a:gd name="adj" fmla="val 10256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95528" y="4617720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709160"/>
            <a:ext cx="164592" cy="16459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52728" y="452628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กติกาสำคัญ: 1 โปรเจค = 1 บทสนทนา  บริบทที่สะสมไว้คือสิ่งที่ทำให้คำตอบดีขึ้นเรื่อย ๆ</a:t>
            </a:r>
            <a:endParaRPr lang="en-US" sz="1250"/>
          </a:p>
        </p:txBody>
      </p:sp>
      <p:sp>
        <p:nvSpPr>
          <p:cNvPr id="29" name="Shape 22"/>
          <p:cNvSpPr/>
          <p:nvPr/>
        </p:nvSpPr>
        <p:spPr>
          <a:xfrm>
            <a:off x="594360" y="5303520"/>
            <a:ext cx="11002975" cy="713232"/>
          </a:xfrm>
          <a:prstGeom prst="roundRect">
            <a:avLst>
              <a:gd name="adj" fmla="val 10256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95528" y="5486400"/>
            <a:ext cx="347472" cy="347472"/>
          </a:xfrm>
          <a:prstGeom prst="ellipse">
            <a:avLst/>
          </a:prstGeom>
          <a:solidFill>
            <a:srgbClr val="A33A3A"/>
          </a:solidFill>
          <a:ln w="12700">
            <a:solidFill>
              <a:srgbClr val="A33A3A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5577840"/>
            <a:ext cx="164592" cy="16459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252728" y="539496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อย่าเชื่อคำตอบแรกทันที ถามกลับทุกครั้งว่า “ข้อเสียของแนวทางนี้คืออะไร” ก่อนตัดสินใจ</a:t>
            </a:r>
            <a:endParaRPr lang="en-US" sz="12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โครง prompt 5 ส่วน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" y="164592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บทบาท</a:t>
            </a:r>
            <a:endParaRPr lang="en-US" sz="1450"/>
          </a:p>
        </p:txBody>
      </p:sp>
      <p:sp>
        <p:nvSpPr>
          <p:cNvPr id="6" name="Text 4"/>
          <p:cNvSpPr txBox="1"/>
          <p:nvPr/>
        </p:nvSpPr>
        <p:spPr>
          <a:xfrm>
            <a:off x="740664" y="204825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อยากให้ AI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สวมบทบาทอะไร</a:t>
            </a:r>
            <a:endParaRPr lang="en-US" sz="1150"/>
          </a:p>
        </p:txBody>
      </p:sp>
      <p:sp>
        <p:nvSpPr>
          <p:cNvPr id="7" name="Shape 5"/>
          <p:cNvSpPr/>
          <p:nvPr/>
        </p:nvSpPr>
        <p:spPr>
          <a:xfrm>
            <a:off x="2542581" y="201168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71765" y="146304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18069" y="164592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บริบท</a:t>
            </a:r>
            <a:endParaRPr lang="en-US" sz="1450"/>
          </a:p>
        </p:txBody>
      </p:sp>
      <p:sp>
        <p:nvSpPr>
          <p:cNvPr id="10" name="Text 8"/>
          <p:cNvSpPr txBox="1"/>
          <p:nvPr/>
        </p:nvSpPr>
        <p:spPr>
          <a:xfrm>
            <a:off x="3018069" y="204825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ใครใช้ ใช้ตอนไหน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ปัญหาคืออะไร</a:t>
            </a:r>
            <a:endParaRPr lang="en-US" sz="1150"/>
          </a:p>
        </p:txBody>
      </p:sp>
      <p:sp>
        <p:nvSpPr>
          <p:cNvPr id="11" name="Shape 9"/>
          <p:cNvSpPr/>
          <p:nvPr/>
        </p:nvSpPr>
        <p:spPr>
          <a:xfrm>
            <a:off x="4819985" y="201168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49169" y="146304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95473" y="164592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งานที่ต้องการ</a:t>
            </a:r>
            <a:endParaRPr lang="en-US" sz="1450"/>
          </a:p>
        </p:txBody>
      </p:sp>
      <p:sp>
        <p:nvSpPr>
          <p:cNvPr id="14" name="Text 12"/>
          <p:cNvSpPr txBox="1"/>
          <p:nvPr/>
        </p:nvSpPr>
        <p:spPr>
          <a:xfrm>
            <a:off x="5295473" y="204825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ต้องการผลลัพธ์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อะไรกันแน่</a:t>
            </a:r>
            <a:endParaRPr lang="en-US" sz="1150"/>
          </a:p>
        </p:txBody>
      </p:sp>
      <p:sp>
        <p:nvSpPr>
          <p:cNvPr id="15" name="Shape 13"/>
          <p:cNvSpPr/>
          <p:nvPr/>
        </p:nvSpPr>
        <p:spPr>
          <a:xfrm>
            <a:off x="7097390" y="201168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26574" y="146304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72878" y="164592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ข้อจำกัด</a:t>
            </a:r>
            <a:endParaRPr lang="en-US" sz="1450"/>
          </a:p>
        </p:txBody>
      </p:sp>
      <p:sp>
        <p:nvSpPr>
          <p:cNvPr id="18" name="Text 16"/>
          <p:cNvSpPr txBox="1"/>
          <p:nvPr/>
        </p:nvSpPr>
        <p:spPr>
          <a:xfrm>
            <a:off x="7572878" y="204825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อะไรที่ทำไม่ได้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หรือไม่อยากได้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9374795" y="201168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03979" y="146304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50283" y="164592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รูปแบบผลลัพธ์</a:t>
            </a:r>
            <a:endParaRPr lang="en-US" sz="1450"/>
          </a:p>
        </p:txBody>
      </p:sp>
      <p:sp>
        <p:nvSpPr>
          <p:cNvPr id="22" name="Text 20"/>
          <p:cNvSpPr txBox="1"/>
          <p:nvPr/>
        </p:nvSpPr>
        <p:spPr>
          <a:xfrm>
            <a:off x="9850283" y="204825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อยากได้เป็นอะไร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ยาวแค่ไหน</a:t>
            </a:r>
            <a:endParaRPr lang="en-US" sz="1150"/>
          </a:p>
        </p:txBody>
      </p:sp>
      <p:sp>
        <p:nvSpPr>
          <p:cNvPr id="23" name="Text 21"/>
          <p:cNvSpPr txBox="1"/>
          <p:nvPr/>
        </p:nvSpPr>
        <p:spPr>
          <a:xfrm>
            <a:off x="594360" y="306324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เทียบให้เห็นความต่าง</a:t>
            </a:r>
            <a:endParaRPr lang="en-US" sz="1400"/>
          </a:p>
        </p:txBody>
      </p:sp>
      <p:sp>
        <p:nvSpPr>
          <p:cNvPr id="24" name="Shape 22"/>
          <p:cNvSpPr/>
          <p:nvPr/>
        </p:nvSpPr>
        <p:spPr>
          <a:xfrm>
            <a:off x="594360" y="3429000"/>
            <a:ext cx="5364328" cy="2651760"/>
          </a:xfrm>
          <a:prstGeom prst="roundRect">
            <a:avLst>
              <a:gd name="adj" fmla="val 3448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3685032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แบบที่คุ้นเคย</a:t>
            </a:r>
            <a:endParaRPr lang="en-US" sz="1500"/>
          </a:p>
        </p:txBody>
      </p:sp>
      <p:sp>
        <p:nvSpPr>
          <p:cNvPr id="26" name="Text 24"/>
          <p:cNvSpPr txBox="1"/>
          <p:nvPr/>
        </p:nvSpPr>
        <p:spPr>
          <a:xfrm>
            <a:off x="868680" y="406908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“ช่วยออกแบบระบบบันทึกอุปกรณ์ IT ให้หน่อย”</a:t>
            </a:r>
            <a:endParaRPr lang="en-US" sz="1300"/>
          </a:p>
          <a:p>
            <a:pPr marL="0" indent="0">
              <a:lnSpc>
                <a:spcPct val="118000"/>
              </a:lnSpc>
              <a:buNone/>
            </a:pPr>
            <a:endParaRPr lang="en-US" sz="1300"/>
          </a:p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ผลลัพธ์: กว้าง ทั่วไป ใช้งานจริงไม่ได้ ต้องถามซ้ำอีกหลายรอบ</a:t>
            </a:r>
            <a:endParaRPr lang="en-US" sz="1300"/>
          </a:p>
        </p:txBody>
      </p:sp>
      <p:sp>
        <p:nvSpPr>
          <p:cNvPr id="27" name="Shape 25"/>
          <p:cNvSpPr/>
          <p:nvPr/>
        </p:nvSpPr>
        <p:spPr>
          <a:xfrm>
            <a:off x="6233008" y="3429000"/>
            <a:ext cx="5364328" cy="2651760"/>
          </a:xfrm>
          <a:prstGeom prst="roundRect">
            <a:avLst>
              <a:gd name="adj" fmla="val 3448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507328" y="3685032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แบบที่ต้องการ</a:t>
            </a:r>
            <a:endParaRPr lang="en-US" sz="1500"/>
          </a:p>
        </p:txBody>
      </p:sp>
      <p:sp>
        <p:nvSpPr>
          <p:cNvPr id="29" name="Text 27"/>
          <p:cNvSpPr txBox="1"/>
          <p:nvPr/>
        </p:nvSpPr>
        <p:spPr>
          <a:xfrm>
            <a:off x="6507328" y="406908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ระบุบทบาท + เล่าปัญหาจริง (อุปกรณ์ 200 เครื่อง จดใน Excel หากันไม่เจอ) + บอกข้อจำกัด (คนเดียว 2 วัน ไม่มีเซิร์ฟเวอร์) + สั่งรูปแบบ (แบ่งเป็น ต้องมี / ควรมี / ไว้ทีหลัง)</a:t>
            </a:r>
            <a:endParaRPr lang="en-US"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prompt ต้นแบบที่จะใช้ในคาบนี้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11002975" cy="4116666"/>
          </a:xfrm>
          <a:prstGeom prst="roundRect">
            <a:avLst>
              <a:gd name="adj" fmla="val 7092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1700784"/>
            <a:ext cx="384048" cy="38404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18013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719072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err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เทคนิค</a:t>
            </a:r>
            <a:r>
              <a:rPr lang="en-US" sz="12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1 — </a:t>
            </a:r>
            <a:r>
              <a:rPr lang="en-US" sz="1200" b="1" err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</a:t>
            </a:r>
            <a:r>
              <a:rPr lang="th-TH" sz="12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้โครง </a:t>
            </a:r>
            <a:r>
              <a:rPr lang="en-US" sz="12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Prompt 5 </a:t>
            </a:r>
            <a:r>
              <a:rPr lang="th-TH" sz="12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ส่วน</a:t>
            </a:r>
            <a:endParaRPr lang="en-US" sz="1200"/>
          </a:p>
        </p:txBody>
      </p:sp>
      <p:sp>
        <p:nvSpPr>
          <p:cNvPr id="8" name="Text 5"/>
          <p:cNvSpPr txBox="1"/>
          <p:nvPr/>
        </p:nvSpPr>
        <p:spPr>
          <a:xfrm>
            <a:off x="1325880" y="2337127"/>
            <a:ext cx="9997135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คุณคือนักวิเคราะห์ระบบที่ทำงานกับทีมไอทีขององค์กรขนาดกลาง</a:t>
            </a:r>
            <a:br>
              <a:rPr lang="th-TH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th-TH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บริบท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ทีมไอทีของเราดูแลอุปกรณ์ประมาณ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200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เครื่อง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โน้ตบุ๊ก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จอ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เครื่องพิมพ์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สวิตช์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กล้องวงจรปิด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ตอนนี้บันทึกในไฟล์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Excel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ที่ส่งต่อกันทางอีเมล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ปัญหาคือหาข้อมูลไม่เจอ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ไม่รู้ว่าเครื่องไหนอยู่กับใคร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และมีหลายเวอร์ชันจนไม่รู้อันไหนล่าสุด</a:t>
            </a:r>
            <a:endParaRPr lang="en-US" sz="1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</a:t>
            </a:r>
          </a:p>
          <a:p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สิ่งที่ต้องการ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ช่วยระบุว่าเว็บแอปบันทึกทะเบียนอุปกรณ์ควรมีฟีเจอร์อะไรบ้าง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และควรเก็บข้อมูลอะไรของอุปกรณ์แต่ละชิ้น</a:t>
            </a:r>
            <a:endParaRPr lang="en-US" sz="1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</a:t>
            </a:r>
          </a:p>
          <a:p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ข้อจำกัด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ผมเป็นคนทำคนเดียว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มีเวลา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วัน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ไม่มีเซิร์ฟเวอร์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ไม่มีฐานข้อมูล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ไม่ต้องมีระบบล็อกอิน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ใช้ได้ในเบราว์เซอร์อย่างเดียว</a:t>
            </a:r>
            <a:endParaRPr lang="en-US" sz="1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</a:t>
            </a:r>
          </a:p>
          <a:p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รูปแบบผลลัพธ์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แบ่งฟีเจอร์เป็น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3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กลุ่ม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คือ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ต้องมี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/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ควรมี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/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ไว้ทีหลัง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แต่ละข้อไม่เกิน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1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บรรทัด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แล้วตามด้วยตารางข้อมูลของอุปกรณ์</a:t>
            </a:r>
            <a:r>
              <a:rPr lang="en-US" sz="1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1 </a:t>
            </a:r>
            <a:r>
              <a:rPr lang="en-US" sz="1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ชิ้นว่าควรมีช่องอะไรบ้าง</a:t>
            </a:r>
            <a:endParaRPr lang="en-US" sz="1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00000"/>
              </a:lnSpc>
            </a:pPr>
            <a:endParaRPr lang="en-US" sz="1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14000"/>
              </a:lnSpc>
              <a:buNone/>
            </a:pPr>
            <a:endParaRPr lang="en-US" sz="1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C5ECF0-2284-5AF5-5FD0-747A48617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2B53D12-A9E9-3F2A-C4C1-479D0869E984}"/>
              </a:ext>
            </a:extLst>
          </p:cNvPr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</a:t>
            </a:r>
            <a:endParaRPr lang="en-US" sz="13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C4FD1AD-C723-9E63-7AAC-512549BF15DD}"/>
              </a:ext>
            </a:extLst>
          </p:cNvPr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prompt ต้นแบบที่จะใช้ในคาบนี้</a:t>
            </a:r>
            <a:endParaRPr lang="en-US" sz="300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1D882A1-53C8-091A-41E6-B68D744E3FF7}"/>
              </a:ext>
            </a:extLst>
          </p:cNvPr>
          <p:cNvGrpSpPr/>
          <p:nvPr/>
        </p:nvGrpSpPr>
        <p:grpSpPr>
          <a:xfrm>
            <a:off x="594359" y="3584448"/>
            <a:ext cx="11002975" cy="1289304"/>
            <a:chOff x="594360" y="1463040"/>
            <a:chExt cx="11002975" cy="1289304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44BB9505-7522-85EC-9957-8F86942E9B56}"/>
                </a:ext>
              </a:extLst>
            </p:cNvPr>
            <p:cNvSpPr/>
            <p:nvPr/>
          </p:nvSpPr>
          <p:spPr>
            <a:xfrm>
              <a:off x="594360" y="1463040"/>
              <a:ext cx="11002975" cy="1289304"/>
            </a:xfrm>
            <a:prstGeom prst="roundRect">
              <a:avLst>
                <a:gd name="adj" fmla="val 7092"/>
              </a:avLst>
            </a:prstGeom>
            <a:solidFill>
              <a:srgbClr val="EDF1F6"/>
            </a:solidFill>
            <a:ln w="12700">
              <a:solidFill>
                <a:srgbClr val="D3DBE4"/>
              </a:solidFill>
              <a:prstDash val="solid"/>
            </a:ln>
          </p:spPr>
        </p:sp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AB7D5F56-ADF1-9832-197A-9F49791E3366}"/>
                </a:ext>
              </a:extLst>
            </p:cNvPr>
            <p:cNvSpPr/>
            <p:nvPr/>
          </p:nvSpPr>
          <p:spPr>
            <a:xfrm>
              <a:off x="850392" y="1700784"/>
              <a:ext cx="384048" cy="384048"/>
            </a:xfrm>
            <a:prstGeom prst="ellipse">
              <a:avLst/>
            </a:prstGeom>
            <a:solidFill>
              <a:srgbClr val="C4623F"/>
            </a:solidFill>
            <a:ln w="12700">
              <a:solidFill>
                <a:srgbClr val="C4623F"/>
              </a:solidFill>
              <a:prstDash val="solid"/>
            </a:ln>
          </p:spPr>
        </p:sp>
        <p:pic>
          <p:nvPicPr>
            <p:cNvPr id="6" name="Image 0" descr="preencoded.png">
              <a:extLst>
                <a:ext uri="{FF2B5EF4-FFF2-40B4-BE49-F238E27FC236}">
                  <a16:creationId xmlns:a16="http://schemas.microsoft.com/office/drawing/2014/main" id="{D13C22EA-8298-B95A-1B50-FAA66BB83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0976" y="1801368"/>
              <a:ext cx="182880" cy="182880"/>
            </a:xfrm>
            <a:prstGeom prst="rect">
              <a:avLst/>
            </a:prstGeom>
          </p:spPr>
        </p:pic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29C6CCED-19FC-3E40-67EC-E58FBBFC0056}"/>
                </a:ext>
              </a:extLst>
            </p:cNvPr>
            <p:cNvSpPr txBox="1"/>
            <p:nvPr/>
          </p:nvSpPr>
          <p:spPr>
            <a:xfrm>
              <a:off x="1325880" y="1719072"/>
              <a:ext cx="9997135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rgbClr val="C4623F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เทคนิค 3 — ให้ AI ถามกลับก่อนตอบ</a:t>
              </a:r>
              <a:endParaRPr lang="en-US" sz="1200"/>
            </a:p>
          </p:txBody>
        </p:sp>
        <p:sp>
          <p:nvSpPr>
            <p:cNvPr id="8" name="Text 5">
              <a:extLst>
                <a:ext uri="{FF2B5EF4-FFF2-40B4-BE49-F238E27FC236}">
                  <a16:creationId xmlns:a16="http://schemas.microsoft.com/office/drawing/2014/main" id="{0FCB532D-8DBB-5C70-8BA5-49BFF4671E9F}"/>
                </a:ext>
              </a:extLst>
            </p:cNvPr>
            <p:cNvSpPr txBox="1"/>
            <p:nvPr/>
          </p:nvSpPr>
          <p:spPr>
            <a:xfrm>
              <a:off x="1325880" y="2066544"/>
              <a:ext cx="9997135" cy="4846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ct val="114000"/>
                </a:lnSpc>
                <a:buNone/>
              </a:pPr>
              <a:r>
                <a:rPr lang="en-US" sz="1300">
                  <a:solidFill>
                    <a:srgbClr val="1C2541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ก่อนจะตอบ ขอให้คุณถามคำถามที่จำเป็นต่อการออกแบบระบบนี้กลับมาก่อน 5 ข้อ</a:t>
              </a:r>
              <a:endParaRPr lang="en-US" sz="1300"/>
            </a:p>
            <a:p>
              <a:pPr marL="0" indent="0">
                <a:lnSpc>
                  <a:spcPct val="114000"/>
                </a:lnSpc>
                <a:buNone/>
              </a:pPr>
              <a:r>
                <a:rPr lang="en-US" sz="1300">
                  <a:solidFill>
                    <a:srgbClr val="1C2541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ถามทีละชุด อย่าเพิ่งเสนอคำตอบ เมื่อผมตอบครบแล้วค่อยสรุปให้</a:t>
              </a:r>
              <a:endParaRPr lang="en-US" sz="130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1FCA886-9015-64DF-2A5F-CCAE3BE2F876}"/>
              </a:ext>
            </a:extLst>
          </p:cNvPr>
          <p:cNvGrpSpPr/>
          <p:nvPr/>
        </p:nvGrpSpPr>
        <p:grpSpPr>
          <a:xfrm>
            <a:off x="594360" y="1655064"/>
            <a:ext cx="11002975" cy="1545336"/>
            <a:chOff x="594360" y="3108960"/>
            <a:chExt cx="11002975" cy="1545336"/>
          </a:xfrm>
        </p:grpSpPr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E60FF1F6-5D11-C90D-C0C0-9A7EBDE2C8D1}"/>
                </a:ext>
              </a:extLst>
            </p:cNvPr>
            <p:cNvSpPr/>
            <p:nvPr/>
          </p:nvSpPr>
          <p:spPr>
            <a:xfrm>
              <a:off x="594360" y="3108960"/>
              <a:ext cx="11002975" cy="1545336"/>
            </a:xfrm>
            <a:prstGeom prst="roundRect">
              <a:avLst>
                <a:gd name="adj" fmla="val 5917"/>
              </a:avLst>
            </a:prstGeom>
            <a:solidFill>
              <a:srgbClr val="EDF1F6"/>
            </a:solidFill>
            <a:ln w="12700">
              <a:solidFill>
                <a:srgbClr val="D3DBE4"/>
              </a:solidFill>
              <a:prstDash val="solid"/>
            </a:ln>
          </p:spPr>
        </p:sp>
        <p:sp>
          <p:nvSpPr>
            <p:cNvPr id="10" name="Shape 7">
              <a:extLst>
                <a:ext uri="{FF2B5EF4-FFF2-40B4-BE49-F238E27FC236}">
                  <a16:creationId xmlns:a16="http://schemas.microsoft.com/office/drawing/2014/main" id="{BF2B876A-2598-2186-77FA-A5677D988319}"/>
                </a:ext>
              </a:extLst>
            </p:cNvPr>
            <p:cNvSpPr/>
            <p:nvPr/>
          </p:nvSpPr>
          <p:spPr>
            <a:xfrm>
              <a:off x="850392" y="3346704"/>
              <a:ext cx="384048" cy="384048"/>
            </a:xfrm>
            <a:prstGeom prst="ellipse">
              <a:avLst/>
            </a:prstGeom>
            <a:solidFill>
              <a:srgbClr val="C4623F"/>
            </a:solidFill>
            <a:ln w="12700">
              <a:solidFill>
                <a:srgbClr val="C4623F"/>
              </a:solidFill>
              <a:prstDash val="solid"/>
            </a:ln>
          </p:spPr>
        </p:sp>
        <p:pic>
          <p:nvPicPr>
            <p:cNvPr id="11" name="Image 1" descr="preencoded.png">
              <a:extLst>
                <a:ext uri="{FF2B5EF4-FFF2-40B4-BE49-F238E27FC236}">
                  <a16:creationId xmlns:a16="http://schemas.microsoft.com/office/drawing/2014/main" id="{3F4DB1F7-1C9E-F9AE-5486-51B7FE7C3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0976" y="3447288"/>
              <a:ext cx="182880" cy="182880"/>
            </a:xfrm>
            <a:prstGeom prst="rect">
              <a:avLst/>
            </a:prstGeom>
          </p:spPr>
        </p:pic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3C125750-0564-ADBD-41D1-55A8F1D06505}"/>
                </a:ext>
              </a:extLst>
            </p:cNvPr>
            <p:cNvSpPr txBox="1"/>
            <p:nvPr/>
          </p:nvSpPr>
          <p:spPr>
            <a:xfrm>
              <a:off x="1325880" y="3364992"/>
              <a:ext cx="9997135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rgbClr val="C4623F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เทคนิค 2 — ขอทางเลือกแทนคำตอบเดียว</a:t>
              </a:r>
              <a:endParaRPr lang="en-US" sz="1200"/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709E3019-DC00-6577-B888-D55AC3766D50}"/>
                </a:ext>
              </a:extLst>
            </p:cNvPr>
            <p:cNvSpPr txBox="1"/>
            <p:nvPr/>
          </p:nvSpPr>
          <p:spPr>
            <a:xfrm>
              <a:off x="1325880" y="3712464"/>
              <a:ext cx="9997135" cy="7406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ct val="114000"/>
                </a:lnSpc>
                <a:buNone/>
              </a:pPr>
              <a:r>
                <a:rPr lang="en-US" sz="1300">
                  <a:solidFill>
                    <a:srgbClr val="1C2541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เสนอขอบเขตของระบบมา 3 แบบ คือแบบเล็กที่สุดที่ยังมีประโยชน์ แบบกลาง และแบบเต็ม</a:t>
              </a:r>
              <a:endParaRPr lang="en-US" sz="1300"/>
            </a:p>
            <a:p>
              <a:pPr marL="0" indent="0">
                <a:lnSpc>
                  <a:spcPct val="114000"/>
                </a:lnSpc>
                <a:buNone/>
              </a:pPr>
              <a:r>
                <a:rPr lang="en-US" sz="1300">
                  <a:solidFill>
                    <a:srgbClr val="1C2541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พร้อมบอกข้อดีข้อเสียและเวลาที่ต้องใช้ของแต่ละแบบ</a:t>
              </a:r>
              <a:endParaRPr lang="en-US" sz="1300"/>
            </a:p>
            <a:p>
              <a:pPr marL="0" indent="0">
                <a:lnSpc>
                  <a:spcPct val="114000"/>
                </a:lnSpc>
                <a:buNone/>
              </a:pPr>
              <a:r>
                <a:rPr lang="en-US" sz="1300">
                  <a:solidFill>
                    <a:srgbClr val="1C2541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แล้วบอกด้วยว่าถ้าผมมีเวลา 2 วันควรเลือกแบบไหน เพราะอะไร</a:t>
              </a:r>
              <a:endParaRPr lang="en-US" sz="1300"/>
            </a:p>
          </p:txBody>
        </p:sp>
      </p:grpSp>
      <p:sp>
        <p:nvSpPr>
          <p:cNvPr id="14" name="Shape 10">
            <a:extLst>
              <a:ext uri="{FF2B5EF4-FFF2-40B4-BE49-F238E27FC236}">
                <a16:creationId xmlns:a16="http://schemas.microsoft.com/office/drawing/2014/main" id="{A275CE33-7B75-B5F2-4425-CE238E2EE7AD}"/>
              </a:ext>
            </a:extLst>
          </p:cNvPr>
          <p:cNvSpPr/>
          <p:nvPr/>
        </p:nvSpPr>
        <p:spPr>
          <a:xfrm>
            <a:off x="594360" y="5257800"/>
            <a:ext cx="11002975" cy="777240"/>
          </a:xfrm>
          <a:prstGeom prst="roundRect">
            <a:avLst>
              <a:gd name="adj" fmla="val 9412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605A739F-365D-4911-6529-BDA347512CA1}"/>
              </a:ext>
            </a:extLst>
          </p:cNvPr>
          <p:cNvSpPr/>
          <p:nvPr/>
        </p:nvSpPr>
        <p:spPr>
          <a:xfrm>
            <a:off x="795528" y="5472684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16" name="Image 2" descr="preencoded.png">
            <a:extLst>
              <a:ext uri="{FF2B5EF4-FFF2-40B4-BE49-F238E27FC236}">
                <a16:creationId xmlns:a16="http://schemas.microsoft.com/office/drawing/2014/main" id="{8CC3E8EF-D138-E520-E7A1-1E6CD874D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5564124"/>
            <a:ext cx="164592" cy="164592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788CDA2E-60CB-EC4F-76DA-D0A2A4B9A432}"/>
              </a:ext>
            </a:extLst>
          </p:cNvPr>
          <p:cNvSpPr txBox="1"/>
          <p:nvPr/>
        </p:nvSpPr>
        <p:spPr>
          <a:xfrm>
            <a:off x="1252728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ผลลัพธ์ที่ต้องได้ก่อนจบคาบ: รายการฟีเจอร์แบ่งเป็น ต้องมี / ควรมี / ไว้ทีหลัง และเลือกขอบเขตของตัวเองแล้ว 1 แบบ</a:t>
            </a:r>
            <a:endParaRPr lang="en-US" sz="1250"/>
          </a:p>
        </p:txBody>
      </p:sp>
    </p:spTree>
    <p:extLst>
      <p:ext uri="{BB962C8B-B14F-4D97-AF65-F5344CB8AC3E}">
        <p14:creationId xmlns:p14="http://schemas.microsoft.com/office/powerpoint/2010/main" val="1009471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2  ·  10.30 – 11.15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เปลี่ยนบทสนทนาให้เป็นเอกสาร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11002975" cy="914400"/>
          </a:xfrm>
          <a:prstGeom prst="roundRect">
            <a:avLst>
              <a:gd name="adj" fmla="val 10000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173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“ถ้าพรุ่งนี้เปิดบทสนทนาใหม่ Claude จะจำที่เราคุยกันวันนี้ได้ไหม”</a:t>
            </a:r>
            <a:endParaRPr lang="en-US" sz="2200"/>
          </a:p>
        </p:txBody>
      </p:sp>
      <p:sp>
        <p:nvSpPr>
          <p:cNvPr id="6" name="Text 4"/>
          <p:cNvSpPr txBox="1"/>
          <p:nvPr/>
        </p:nvSpPr>
        <p:spPr>
          <a:xfrm>
            <a:off x="594360" y="2468880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เอกสารคือความจำของโปรเจค ไม่ใช่พิธีกรรม</a:t>
            </a:r>
            <a:endParaRPr lang="en-US" sz="1500"/>
          </a:p>
        </p:txBody>
      </p:sp>
      <p:sp>
        <p:nvSpPr>
          <p:cNvPr id="7" name="Shape 5"/>
          <p:cNvSpPr/>
          <p:nvPr/>
        </p:nvSpPr>
        <p:spPr>
          <a:xfrm>
            <a:off x="594360" y="297180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3227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364992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394106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SPEC.md</a:t>
            </a:r>
            <a:endParaRPr lang="en-US" sz="1600"/>
          </a:p>
        </p:txBody>
      </p:sp>
      <p:sp>
        <p:nvSpPr>
          <p:cNvPr id="11" name="Text 8"/>
          <p:cNvSpPr txBox="1"/>
          <p:nvPr/>
        </p:nvSpPr>
        <p:spPr>
          <a:xfrm>
            <a:off x="868680" y="4241133"/>
            <a:ext cx="2936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บอกว่า “จะทำอะไร”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 · ผู้ใช้ · ฟีเจอร์ที่ต้องมี · สิ่งที่อยู่นอกขอบเขต · โครงสร้างข้อมูล · เทคโนโลยีและเหตุผล · เกณฑ์ว่าเสร็จ</a:t>
            </a:r>
            <a:endParaRPr lang="en-US" sz="1250"/>
          </a:p>
        </p:txBody>
      </p:sp>
      <p:sp>
        <p:nvSpPr>
          <p:cNvPr id="12" name="Shape 9"/>
          <p:cNvSpPr/>
          <p:nvPr/>
        </p:nvSpPr>
        <p:spPr>
          <a:xfrm>
            <a:off x="4353458" y="297180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27778" y="3227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938" y="3364992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27778" y="394106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README.md</a:t>
            </a:r>
            <a:endParaRPr lang="en-US" sz="1600"/>
          </a:p>
        </p:txBody>
      </p:sp>
      <p:sp>
        <p:nvSpPr>
          <p:cNvPr id="16" name="Text 12"/>
          <p:cNvSpPr txBox="1"/>
          <p:nvPr/>
        </p:nvSpPr>
        <p:spPr>
          <a:xfrm>
            <a:off x="4627778" y="4325112"/>
            <a:ext cx="29361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บอกว่า “คนอื่นเปิดมาเจอแล้วต้องรู้อะไร”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โปรเจคนี้แก้ปัญหาอะไร · ทำอะไรได้ · เปิดใช้อย่างไร · ใช้เทคโนโลยีอะไร</a:t>
            </a:r>
            <a:endParaRPr lang="en-US" sz="1250"/>
          </a:p>
        </p:txBody>
      </p:sp>
      <p:sp>
        <p:nvSpPr>
          <p:cNvPr id="17" name="Shape 13"/>
          <p:cNvSpPr/>
          <p:nvPr/>
        </p:nvSpPr>
        <p:spPr>
          <a:xfrm>
            <a:off x="8112557" y="297180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86877" y="3227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4037" y="3364992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86877" y="394106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CLAUDE.md</a:t>
            </a:r>
            <a:endParaRPr lang="en-US" sz="1600"/>
          </a:p>
        </p:txBody>
      </p:sp>
      <p:sp>
        <p:nvSpPr>
          <p:cNvPr id="21" name="Text 16"/>
          <p:cNvSpPr txBox="1"/>
          <p:nvPr/>
        </p:nvSpPr>
        <p:spPr>
          <a:xfrm>
            <a:off x="8386877" y="4325112"/>
            <a:ext cx="29361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บอกว่า “กฎประจำบ้านคืออะไร”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ภาษาที่ใช้ · เทคโนโลยีที่ห้ามเพิ่ม · วิธีทำงานร่วมกัน  (จะสร้างในหัวข้อ 6)</a:t>
            </a:r>
            <a:endParaRPr lang="en-US" sz="1250"/>
          </a:p>
        </p:txBody>
      </p:sp>
      <p:sp>
        <p:nvSpPr>
          <p:cNvPr id="22" name="Shape 17"/>
          <p:cNvSpPr/>
          <p:nvPr/>
        </p:nvSpPr>
        <p:spPr>
          <a:xfrm>
            <a:off x="594360" y="5532120"/>
            <a:ext cx="11002975" cy="731520"/>
          </a:xfrm>
          <a:prstGeom prst="roundRect">
            <a:avLst>
              <a:gd name="adj" fmla="val 10000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95528" y="5724144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5815584"/>
            <a:ext cx="164592" cy="16459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52728" y="562356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เกณฑ์ตรวจ SPEC ที่ดี: อ่านแล้วต้องรู้ว่า “เสร็จ” หน้าตาเป็นอย่างไร ถ้าอ่านแล้วยังไม่รู้ แปลว่ายังไม่พอ</a:t>
            </a:r>
            <a:endParaRPr lang="en-US" sz="12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2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เทคโนโลยีที่เราจะใช้ และเหตุผล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1051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9476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52374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HTML + CSS + JavaScript</a:t>
            </a:r>
            <a:endParaRPr lang="en-US" sz="1600"/>
          </a:p>
        </p:txBody>
      </p:sp>
      <p:sp>
        <p:nvSpPr>
          <p:cNvPr id="8" name="Text 5"/>
          <p:cNvSpPr txBox="1"/>
          <p:nvPr/>
        </p:nvSpPr>
        <p:spPr>
          <a:xfrm>
            <a:off x="868680" y="2907792"/>
            <a:ext cx="29361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 index.html ไฟล์เดียว ไม่มี framework ไม่มี build step</a:t>
            </a:r>
            <a:endParaRPr lang="en-US" sz="1250"/>
          </a:p>
        </p:txBody>
      </p:sp>
      <p:sp>
        <p:nvSpPr>
          <p:cNvPr id="9" name="Shape 6"/>
          <p:cNvSpPr/>
          <p:nvPr/>
        </p:nvSpPr>
        <p:spPr>
          <a:xfrm>
            <a:off x="4353458" y="155448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27778" y="181051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938" y="19476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27778" y="252374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localStorage</a:t>
            </a:r>
            <a:endParaRPr lang="en-US" sz="1600"/>
          </a:p>
        </p:txBody>
      </p:sp>
      <p:sp>
        <p:nvSpPr>
          <p:cNvPr id="13" name="Text 9"/>
          <p:cNvSpPr txBox="1"/>
          <p:nvPr/>
        </p:nvSpPr>
        <p:spPr>
          <a:xfrm>
            <a:off x="4627778" y="2907792"/>
            <a:ext cx="29361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เก็บข้อมูลในเบราว์เซอร์ ไม่มีฐานข้อมูล ไม่มีเซิร์ฟเวอร์</a:t>
            </a:r>
            <a:endParaRPr lang="en-US" sz="1250"/>
          </a:p>
        </p:txBody>
      </p:sp>
      <p:sp>
        <p:nvSpPr>
          <p:cNvPr id="14" name="Shape 10"/>
          <p:cNvSpPr/>
          <p:nvPr/>
        </p:nvSpPr>
        <p:spPr>
          <a:xfrm>
            <a:off x="8112557" y="155448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86877" y="181051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4037" y="194767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86877" y="252374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 Pages</a:t>
            </a:r>
            <a:endParaRPr lang="en-US" sz="1600"/>
          </a:p>
        </p:txBody>
      </p:sp>
      <p:sp>
        <p:nvSpPr>
          <p:cNvPr id="18" name="Text 13"/>
          <p:cNvSpPr txBox="1"/>
          <p:nvPr/>
        </p:nvSpPr>
        <p:spPr>
          <a:xfrm>
            <a:off x="8386877" y="2907792"/>
            <a:ext cx="29361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เผยแพร่ขึ้นเว็บได้ตรง ๆ โดยไม่ต้องตั้งค่าอะไรเพิ่ม</a:t>
            </a:r>
            <a:endParaRPr lang="en-US" sz="1250"/>
          </a:p>
        </p:txBody>
      </p:sp>
      <p:sp>
        <p:nvSpPr>
          <p:cNvPr id="19" name="Text 14"/>
          <p:cNvSpPr txBox="1"/>
          <p:nvPr/>
        </p:nvSpPr>
        <p:spPr>
          <a:xfrm>
            <a:off x="594360" y="374904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ทำไมต้องเป็นชุดนี้</a:t>
            </a:r>
            <a:endParaRPr lang="en-US" sz="1500"/>
          </a:p>
        </p:txBody>
      </p:sp>
      <p:sp>
        <p:nvSpPr>
          <p:cNvPr id="20" name="Shape 15"/>
          <p:cNvSpPr/>
          <p:nvPr/>
        </p:nvSpPr>
        <p:spPr>
          <a:xfrm>
            <a:off x="594360" y="4151376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4360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/>
          </a:p>
        </p:txBody>
      </p:sp>
      <p:sp>
        <p:nvSpPr>
          <p:cNvPr id="22" name="Text 17"/>
          <p:cNvSpPr txBox="1"/>
          <p:nvPr/>
        </p:nvSpPr>
        <p:spPr>
          <a:xfrm>
            <a:off x="1197864" y="411480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ไม่ต้องติดตั้งอะไรเพิ่ม</a:t>
            </a:r>
            <a:endParaRPr lang="en-US" sz="1450"/>
          </a:p>
        </p:txBody>
      </p:sp>
      <p:sp>
        <p:nvSpPr>
          <p:cNvPr id="23" name="Text 18"/>
          <p:cNvSpPr txBox="1"/>
          <p:nvPr/>
        </p:nvSpPr>
        <p:spPr>
          <a:xfrm>
            <a:off x="1197864" y="4398264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ลดความเสี่ยงเรื่องเครื่ององค์กรที่ล็อกสิทธิ์</a:t>
            </a:r>
            <a:endParaRPr lang="en-US" sz="1250"/>
          </a:p>
        </p:txBody>
      </p:sp>
      <p:sp>
        <p:nvSpPr>
          <p:cNvPr id="24" name="Shape 19"/>
          <p:cNvSpPr/>
          <p:nvPr/>
        </p:nvSpPr>
        <p:spPr>
          <a:xfrm>
            <a:off x="594360" y="4809744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94360" y="4809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/>
          </a:p>
        </p:txBody>
      </p:sp>
      <p:sp>
        <p:nvSpPr>
          <p:cNvPr id="26" name="Text 21"/>
          <p:cNvSpPr txBox="1"/>
          <p:nvPr/>
        </p:nvSpPr>
        <p:spPr>
          <a:xfrm>
            <a:off x="1197864" y="4773168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ดับเบิลคลิกเปิดในเบราว์เซอร์ได้ทันที</a:t>
            </a:r>
            <a:endParaRPr lang="en-US" sz="1450"/>
          </a:p>
        </p:txBody>
      </p:sp>
      <p:sp>
        <p:nvSpPr>
          <p:cNvPr id="27" name="Text 22"/>
          <p:cNvSpPr txBox="1"/>
          <p:nvPr/>
        </p:nvSpPr>
        <p:spPr>
          <a:xfrm>
            <a:off x="1197864" y="5056632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ผู้เรียนเห็นผลลัพธ์เร็ว ไม่ต้องรอ</a:t>
            </a:r>
            <a:endParaRPr lang="en-US" sz="1250"/>
          </a:p>
        </p:txBody>
      </p:sp>
      <p:sp>
        <p:nvSpPr>
          <p:cNvPr id="28" name="Shape 23"/>
          <p:cNvSpPr/>
          <p:nvPr/>
        </p:nvSpPr>
        <p:spPr>
          <a:xfrm>
            <a:off x="594360" y="5468112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94360" y="5468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/>
          </a:p>
        </p:txBody>
      </p:sp>
      <p:sp>
        <p:nvSpPr>
          <p:cNvPr id="30" name="Text 25"/>
          <p:cNvSpPr txBox="1"/>
          <p:nvPr/>
        </p:nvSpPr>
        <p:spPr>
          <a:xfrm>
            <a:off x="1197864" y="5431536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ทั้งห้องใช้ชุดเดียวกัน</a:t>
            </a:r>
            <a:endParaRPr lang="en-US" sz="1450"/>
          </a:p>
        </p:txBody>
      </p:sp>
      <p:sp>
        <p:nvSpPr>
          <p:cNvPr id="31" name="Text 26"/>
          <p:cNvSpPr txBox="1"/>
          <p:nvPr/>
        </p:nvSpPr>
        <p:spPr>
          <a:xfrm>
            <a:off x="1197864" y="5715000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ผู้สอนช่วยแก้ปัญหาได้ทัน และเพื่อนช่วยเพื่อนได้</a:t>
            </a:r>
            <a:endParaRPr lang="en-US" sz="12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3  ·  11.15 – 12.00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ติดตั้งเครื่องมือ</a:t>
            </a:r>
            <a:endParaRPr lang="en-US" sz="3000"/>
          </a:p>
        </p:txBody>
      </p:sp>
      <p:sp>
        <p:nvSpPr>
          <p:cNvPr id="4" name="Text 2"/>
          <p:cNvSpPr txBox="1"/>
          <p:nvPr/>
        </p:nvSpPr>
        <p:spPr>
          <a:xfrm>
            <a:off x="594360" y="12984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หลักการ: “ติดตั้งแล้ว” ไม่พอ ต้อง “ทดสอบว่าใช้งานได้จริงแล้ว” ทุกคน</a:t>
            </a:r>
            <a:endParaRPr lang="en-US" sz="150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893357" cy="1417320"/>
          </a:xfrm>
          <a:prstGeom prst="roundRect">
            <a:avLst>
              <a:gd name="adj" fmla="val 6452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" y="2011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1. Git</a:t>
            </a:r>
            <a:endParaRPr lang="en-US" sz="1450"/>
          </a:p>
        </p:txBody>
      </p:sp>
      <p:sp>
        <p:nvSpPr>
          <p:cNvPr id="7" name="Text 5"/>
          <p:cNvSpPr txBox="1"/>
          <p:nvPr/>
        </p:nvSpPr>
        <p:spPr>
          <a:xfrm>
            <a:off x="740664" y="2414016"/>
            <a:ext cx="16007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Windows ใช้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for Windows</a:t>
            </a:r>
            <a:endParaRPr lang="en-US" sz="1150"/>
          </a:p>
        </p:txBody>
      </p:sp>
      <p:sp>
        <p:nvSpPr>
          <p:cNvPr id="8" name="Shape 6"/>
          <p:cNvSpPr/>
          <p:nvPr/>
        </p:nvSpPr>
        <p:spPr>
          <a:xfrm>
            <a:off x="2542581" y="240030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71765" y="1828800"/>
            <a:ext cx="1893357" cy="1417320"/>
          </a:xfrm>
          <a:prstGeom prst="roundRect">
            <a:avLst>
              <a:gd name="adj" fmla="val 6452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18069" y="2011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 VS Code</a:t>
            </a:r>
            <a:endParaRPr lang="en-US" sz="1450"/>
          </a:p>
        </p:txBody>
      </p:sp>
      <p:sp>
        <p:nvSpPr>
          <p:cNvPr id="11" name="Text 9"/>
          <p:cNvSpPr txBox="1"/>
          <p:nvPr/>
        </p:nvSpPr>
        <p:spPr>
          <a:xfrm>
            <a:off x="3018069" y="2414016"/>
            <a:ext cx="16007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ต้องเป็นเวอร์ชัน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1.94.0 ขึ้นไป</a:t>
            </a:r>
            <a:endParaRPr lang="en-US" sz="1150"/>
          </a:p>
        </p:txBody>
      </p:sp>
      <p:sp>
        <p:nvSpPr>
          <p:cNvPr id="12" name="Shape 10"/>
          <p:cNvSpPr/>
          <p:nvPr/>
        </p:nvSpPr>
        <p:spPr>
          <a:xfrm>
            <a:off x="4819985" y="240030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49169" y="1828800"/>
            <a:ext cx="1893357" cy="1417320"/>
          </a:xfrm>
          <a:prstGeom prst="roundRect">
            <a:avLst>
              <a:gd name="adj" fmla="val 6452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95473" y="2011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3. เปิดโฟลเดอร์</a:t>
            </a:r>
            <a:endParaRPr lang="en-US" sz="1450"/>
          </a:p>
        </p:txBody>
      </p:sp>
      <p:sp>
        <p:nvSpPr>
          <p:cNvPr id="15" name="Text 13"/>
          <p:cNvSpPr txBox="1"/>
          <p:nvPr/>
        </p:nvSpPr>
        <p:spPr>
          <a:xfrm>
            <a:off x="5295473" y="2414016"/>
            <a:ext cx="16007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File &gt; Open Folder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แล้วกด Trust</a:t>
            </a:r>
            <a:endParaRPr lang="en-US" sz="1150"/>
          </a:p>
        </p:txBody>
      </p:sp>
      <p:sp>
        <p:nvSpPr>
          <p:cNvPr id="16" name="Shape 14"/>
          <p:cNvSpPr/>
          <p:nvPr/>
        </p:nvSpPr>
        <p:spPr>
          <a:xfrm>
            <a:off x="7097390" y="240030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26574" y="1828800"/>
            <a:ext cx="1893357" cy="1417320"/>
          </a:xfrm>
          <a:prstGeom prst="roundRect">
            <a:avLst>
              <a:gd name="adj" fmla="val 6452"/>
            </a:avLst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72878" y="2011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4. ส่วนขยาย</a:t>
            </a:r>
            <a:endParaRPr lang="en-US" sz="1450"/>
          </a:p>
        </p:txBody>
      </p:sp>
      <p:sp>
        <p:nvSpPr>
          <p:cNvPr id="19" name="Text 17"/>
          <p:cNvSpPr txBox="1"/>
          <p:nvPr/>
        </p:nvSpPr>
        <p:spPr>
          <a:xfrm>
            <a:off x="7572878" y="2414016"/>
            <a:ext cx="16007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Ctrl+Shift+X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ค้นหา Claude Code</a:t>
            </a:r>
            <a:endParaRPr lang="en-US" sz="1150"/>
          </a:p>
        </p:txBody>
      </p:sp>
      <p:sp>
        <p:nvSpPr>
          <p:cNvPr id="20" name="Shape 18"/>
          <p:cNvSpPr/>
          <p:nvPr/>
        </p:nvSpPr>
        <p:spPr>
          <a:xfrm>
            <a:off x="9374795" y="240030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03979" y="1828800"/>
            <a:ext cx="1893357" cy="1417320"/>
          </a:xfrm>
          <a:prstGeom prst="roundRect">
            <a:avLst>
              <a:gd name="adj" fmla="val 6452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50283" y="2011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5. ล็อกอิน</a:t>
            </a:r>
            <a:endParaRPr lang="en-US" sz="1450"/>
          </a:p>
        </p:txBody>
      </p:sp>
      <p:sp>
        <p:nvSpPr>
          <p:cNvPr id="23" name="Text 21"/>
          <p:cNvSpPr txBox="1"/>
          <p:nvPr/>
        </p:nvSpPr>
        <p:spPr>
          <a:xfrm>
            <a:off x="9850283" y="2414016"/>
            <a:ext cx="16007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กด Sign in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ยืนยันในเบราว์เซอร์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5364328" cy="2194560"/>
          </a:xfrm>
          <a:prstGeom prst="roundRect">
            <a:avLst>
              <a:gd name="adj" fmla="val 41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3776472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เทียบให้ตรงก่อนกด Install</a:t>
            </a:r>
            <a:endParaRPr lang="en-US" sz="1500"/>
          </a:p>
        </p:txBody>
      </p:sp>
      <p:sp>
        <p:nvSpPr>
          <p:cNvPr id="26" name="Text 24"/>
          <p:cNvSpPr txBox="1"/>
          <p:nvPr/>
        </p:nvSpPr>
        <p:spPr>
          <a:xfrm>
            <a:off x="868680" y="4160520"/>
            <a:ext cx="481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ชื่อ:  Claude Code for VS Code</a:t>
            </a:r>
            <a:endParaRPr lang="en-US" sz="1300"/>
          </a:p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ผู้พัฒนา:  Anthropic (มีเครื่องหมายยืนยันตัวตน)</a:t>
            </a:r>
            <a:endParaRPr lang="en-US" sz="1300"/>
          </a:p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Identifier:  anthropic.claude-code</a:t>
            </a:r>
            <a:endParaRPr lang="en-US" sz="1300"/>
          </a:p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Version:  2.1.258 หรือใหม่กว่า</a:t>
            </a:r>
            <a:endParaRPr lang="en-US" sz="1300"/>
          </a:p>
          <a:p>
            <a:pPr marL="0" indent="0">
              <a:lnSpc>
                <a:spcPct val="118000"/>
              </a:lnSpc>
              <a:buNone/>
            </a:pPr>
            <a:endParaRPr lang="en-US" sz="1300"/>
          </a:p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หลังติดตั้ง กด Restart Extensions และติ๊ก Auto Update ไว้</a:t>
            </a:r>
            <a:endParaRPr lang="en-US" sz="1300"/>
          </a:p>
        </p:txBody>
      </p:sp>
      <p:sp>
        <p:nvSpPr>
          <p:cNvPr id="27" name="Shape 25"/>
          <p:cNvSpPr/>
          <p:nvPr/>
        </p:nvSpPr>
        <p:spPr>
          <a:xfrm>
            <a:off x="6233008" y="3520440"/>
            <a:ext cx="5364328" cy="2194560"/>
          </a:xfrm>
          <a:prstGeom prst="roundRect">
            <a:avLst>
              <a:gd name="adj" fmla="val 3333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61608" y="3721608"/>
            <a:ext cx="490712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ตรวจใน Terminal ของ VS Code (Ctrl+`)</a:t>
            </a:r>
            <a:endParaRPr lang="en-US" sz="1150"/>
          </a:p>
          <a:p>
            <a:pPr marL="0" indent="0">
              <a:lnSpc>
                <a:spcPct val="105000"/>
              </a:lnSpc>
              <a:buNone/>
            </a:pPr>
            <a:r>
              <a:rPr lang="en-US" sz="11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/>
          </a:p>
          <a:p>
            <a:pPr marL="0" indent="0">
              <a:lnSpc>
                <a:spcPct val="105000"/>
              </a:lnSpc>
              <a:buNone/>
            </a:pPr>
            <a:r>
              <a:rPr lang="en-US" sz="11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/>
          </a:p>
          <a:p>
            <a:pPr marL="0" indent="0">
              <a:lnSpc>
                <a:spcPct val="105000"/>
              </a:lnSpc>
              <a:buNone/>
            </a:pPr>
            <a:r>
              <a:rPr lang="en-US" sz="11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"Somchai Jaidee"</a:t>
            </a:r>
            <a:endParaRPr lang="en-US" sz="1150"/>
          </a:p>
          <a:p>
            <a:pPr marL="0" indent="0">
              <a:lnSpc>
                <a:spcPct val="105000"/>
              </a:lnSpc>
              <a:buNone/>
            </a:pPr>
            <a:r>
              <a:rPr lang="en-US" sz="11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"somchai@example.com"</a:t>
            </a:r>
            <a:endParaRPr lang="en-US" sz="1150"/>
          </a:p>
          <a:p>
            <a:pPr marL="0" indent="0">
              <a:lnSpc>
                <a:spcPct val="105000"/>
              </a:lnSpc>
              <a:buNone/>
            </a:pPr>
            <a:r>
              <a:rPr lang="en-US" sz="11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init.defaultBranch main</a:t>
            </a:r>
            <a:endParaRPr lang="en-US" sz="1150"/>
          </a:p>
          <a:p>
            <a:pPr marL="0" indent="0">
              <a:lnSpc>
                <a:spcPct val="105000"/>
              </a:lnSpc>
              <a:buNone/>
            </a:pPr>
            <a:r>
              <a:rPr lang="en-US" sz="11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core.editor "code --wait"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594360" y="5897880"/>
            <a:ext cx="11002975" cy="566928"/>
          </a:xfrm>
          <a:prstGeom prst="roundRect">
            <a:avLst>
              <a:gd name="adj" fmla="val 12903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5528" y="6007608"/>
            <a:ext cx="347472" cy="347472"/>
          </a:xfrm>
          <a:prstGeom prst="ellipse">
            <a:avLst/>
          </a:prstGeom>
          <a:solidFill>
            <a:srgbClr val="A33A3A"/>
          </a:solidFill>
          <a:ln w="12700">
            <a:solidFill>
              <a:srgbClr val="A33A3A"/>
            </a:solidFill>
            <a:prstDash val="solid"/>
          </a:ln>
        </p:spPr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6099048"/>
            <a:ext cx="164592" cy="164592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252728" y="598932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บัญชี Claude ต้องเป็นแพลน Pro, Max, Team, Enterprise หรือบัญชี Console — แพลนฟรีใช้ Claude Code ไม่ได้ ต้องตรวจก่อนวันอบรม</a:t>
            </a:r>
            <a:endParaRPr lang="en-US" sz="12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3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ตั้งโหมดการอนุมัติเป็น Manual พร้อมกันทั้งห้อง</a:t>
            </a:r>
            <a:endParaRPr lang="en-US" sz="3000"/>
          </a:p>
        </p:txBody>
      </p:sp>
      <p:sp>
        <p:nvSpPr>
          <p:cNvPr id="4" name="Text 2"/>
          <p:cNvSpPr txBox="1"/>
          <p:nvPr/>
        </p:nvSpPr>
        <p:spPr>
          <a:xfrm>
            <a:off x="594360" y="12984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ตัวบอกโหมดอยู่ที่แถบด้านล่างของช่องพิมพ์ ค่อนไปทางขวา — คลิกแล้วเลือก Manual</a:t>
            </a:r>
            <a:endParaRPr lang="en-US" sz="150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11002975" cy="713232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783080"/>
            <a:ext cx="25237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Manual</a:t>
            </a:r>
            <a:endParaRPr lang="en-US" sz="1300"/>
          </a:p>
        </p:txBody>
      </p:sp>
      <p:sp>
        <p:nvSpPr>
          <p:cNvPr id="7" name="Text 5"/>
          <p:cNvSpPr txBox="1"/>
          <p:nvPr/>
        </p:nvSpPr>
        <p:spPr>
          <a:xfrm>
            <a:off x="3337560" y="1783080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ถามก่อนแก้ไฟล์ทุกครั้ง และแสดงหน้าเทียบ diff ซ้าย-ขวาให้ดูก่อน  →  ใช้ตลอดหลักสูตรนี้</a:t>
            </a:r>
            <a:endParaRPr lang="en-US" sz="1250"/>
          </a:p>
        </p:txBody>
      </p:sp>
      <p:sp>
        <p:nvSpPr>
          <p:cNvPr id="8" name="Text 6"/>
          <p:cNvSpPr txBox="1"/>
          <p:nvPr/>
        </p:nvSpPr>
        <p:spPr>
          <a:xfrm>
            <a:off x="758952" y="2496312"/>
            <a:ext cx="25237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Plan</a:t>
            </a:r>
            <a:endParaRPr lang="en-US" sz="1300"/>
          </a:p>
        </p:txBody>
      </p:sp>
      <p:sp>
        <p:nvSpPr>
          <p:cNvPr id="9" name="Text 7"/>
          <p:cNvSpPr txBox="1"/>
          <p:nvPr/>
        </p:nvSpPr>
        <p:spPr>
          <a:xfrm>
            <a:off x="3337560" y="2496312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อธิบายแผนก่อน แล้วรออนุมัติจึงลงมือ VS Code เปิดแผนเป็นเอกสารให้คอมเมนต์ได้  →  ใช้ในหัวข้อ 8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594360" y="3209544"/>
            <a:ext cx="11002975" cy="713232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209544"/>
            <a:ext cx="25237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Edit automatically</a:t>
            </a:r>
            <a:endParaRPr lang="en-US" sz="1300"/>
          </a:p>
        </p:txBody>
      </p:sp>
      <p:sp>
        <p:nvSpPr>
          <p:cNvPr id="12" name="Text 10"/>
          <p:cNvSpPr txBox="1"/>
          <p:nvPr/>
        </p:nvSpPr>
        <p:spPr>
          <a:xfrm>
            <a:off x="3337560" y="3209544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แก้ไฟล์เลยโดยไม่ถาม  →  ไม่ใช้ในหลักสูตรนี้</a:t>
            </a:r>
            <a:endParaRPr lang="en-US" sz="1250"/>
          </a:p>
        </p:txBody>
      </p:sp>
      <p:sp>
        <p:nvSpPr>
          <p:cNvPr id="13" name="Text 11"/>
          <p:cNvSpPr txBox="1"/>
          <p:nvPr/>
        </p:nvSpPr>
        <p:spPr>
          <a:xfrm>
            <a:off x="758952" y="3922776"/>
            <a:ext cx="25237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Auto</a:t>
            </a:r>
            <a:endParaRPr lang="en-US" sz="1300"/>
          </a:p>
        </p:txBody>
      </p:sp>
      <p:sp>
        <p:nvSpPr>
          <p:cNvPr id="14" name="Text 12"/>
          <p:cNvSpPr txBox="1"/>
          <p:nvPr/>
        </p:nvSpPr>
        <p:spPr>
          <a:xfrm>
            <a:off x="3337560" y="3922776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ให้ระบบตรวจแทนเราเป็นส่วนใหญ่  →  ไม่ใช้ในหลักสูตรนี้</a:t>
            </a:r>
            <a:endParaRPr lang="en-US" sz="1250"/>
          </a:p>
        </p:txBody>
      </p:sp>
      <p:sp>
        <p:nvSpPr>
          <p:cNvPr id="15" name="Shape 13"/>
          <p:cNvSpPr/>
          <p:nvPr/>
        </p:nvSpPr>
        <p:spPr>
          <a:xfrm>
            <a:off x="594360" y="4892040"/>
            <a:ext cx="11002975" cy="777240"/>
          </a:xfrm>
          <a:prstGeom prst="roundRect">
            <a:avLst>
              <a:gd name="adj" fmla="val 9412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" y="5106924"/>
            <a:ext cx="347472" cy="347472"/>
          </a:xfrm>
          <a:prstGeom prst="ellipse">
            <a:avLst/>
          </a:prstGeom>
          <a:solidFill>
            <a:srgbClr val="A33A3A"/>
          </a:solidFill>
          <a:ln w="12700">
            <a:solidFill>
              <a:srgbClr val="A33A3A"/>
            </a:solidFill>
            <a:prstDash val="solid"/>
          </a:ln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98364"/>
            <a:ext cx="164592" cy="16459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52728" y="498348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เครื่องที่ติดตั้งใหม่มักขึ้นเป็น Edit automatically หรือ Auto มาตั้งแต่ต้น ซึ่งจะแก้ไฟล์ทันทีโดยไม่ถาม ต้องเปลี่ยนเป็น Manual ทุกคนก่อนเริ่มหัวข้อ 6</a:t>
            </a:r>
            <a:endParaRPr lang="en-US" sz="1250"/>
          </a:p>
        </p:txBody>
      </p:sp>
      <p:sp>
        <p:nvSpPr>
          <p:cNvPr id="19" name="Shape 16"/>
          <p:cNvSpPr/>
          <p:nvPr/>
        </p:nvSpPr>
        <p:spPr>
          <a:xfrm>
            <a:off x="594360" y="5806440"/>
            <a:ext cx="11002975" cy="685800"/>
          </a:xfrm>
          <a:prstGeom prst="roundRect">
            <a:avLst>
              <a:gd name="adj" fmla="val 10667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5528" y="5975604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6067044"/>
            <a:ext cx="164592" cy="164592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252728" y="589788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prompt ทดสอบว่าทุกอย่างพร้อม:  “ช่วยบอกหน่อยว่าตอนนี้คุณเห็นไฟล์อะไรบ้างในโฟลเดอร์ที่เปิดอยู่ ยังไม่ต้องแก้อะไร”</a:t>
            </a:r>
            <a:endParaRPr lang="en-US" sz="12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4  ·  13.00 – 14.00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พื้นฐาน — จุดเซฟที่มีคำอธิบาย</a:t>
            </a:r>
            <a:endParaRPr lang="en-US" sz="3000"/>
          </a:p>
        </p:txBody>
      </p:sp>
      <p:sp>
        <p:nvSpPr>
          <p:cNvPr id="4" name="Text 2"/>
          <p:cNvSpPr txBox="1"/>
          <p:nvPr/>
        </p:nvSpPr>
        <p:spPr>
          <a:xfrm>
            <a:off x="594360" y="1325880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“มี Ctrl+Z อยู่แล้ว ทำไมต้องมี Git อีก”</a:t>
            </a:r>
            <a:endParaRPr lang="en-US" sz="170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484778" cy="1051560"/>
          </a:xfrm>
          <a:prstGeom prst="roundRect">
            <a:avLst>
              <a:gd name="adj" fmla="val 8696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39112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Ctrl+Z หายเมื่อปิดโปรแกรม</a:t>
            </a:r>
            <a:endParaRPr lang="en-US" sz="140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2936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เก็บไว้ถาวร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4353458" y="1783080"/>
            <a:ext cx="3484778" cy="1051560"/>
          </a:xfrm>
          <a:prstGeom prst="roundRect">
            <a:avLst>
              <a:gd name="adj" fmla="val 8696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27778" y="2039112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ย้อนพร้อมกันหลายไฟล์ไม่ได้</a:t>
            </a:r>
            <a:endParaRPr lang="en-US" sz="1400"/>
          </a:p>
        </p:txBody>
      </p:sp>
      <p:sp>
        <p:nvSpPr>
          <p:cNvPr id="10" name="Text 8"/>
          <p:cNvSpPr txBox="1"/>
          <p:nvPr/>
        </p:nvSpPr>
        <p:spPr>
          <a:xfrm>
            <a:off x="4627778" y="2423160"/>
            <a:ext cx="2936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ย้อนทั้งโปรเจคพร้อมกัน</a:t>
            </a:r>
            <a:endParaRPr lang="en-US" sz="1250"/>
          </a:p>
        </p:txBody>
      </p:sp>
      <p:sp>
        <p:nvSpPr>
          <p:cNvPr id="11" name="Shape 9"/>
          <p:cNvSpPr/>
          <p:nvPr/>
        </p:nvSpPr>
        <p:spPr>
          <a:xfrm>
            <a:off x="8112557" y="1783080"/>
            <a:ext cx="3484778" cy="1051560"/>
          </a:xfrm>
          <a:prstGeom prst="roundRect">
            <a:avLst>
              <a:gd name="adj" fmla="val 8696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86877" y="2039112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ไม่มีคำอธิบายว่าย้อนไปเจออะไร</a:t>
            </a:r>
            <a:endParaRPr lang="en-US" sz="1400"/>
          </a:p>
        </p:txBody>
      </p:sp>
      <p:sp>
        <p:nvSpPr>
          <p:cNvPr id="13" name="Text 11"/>
          <p:cNvSpPr txBox="1"/>
          <p:nvPr/>
        </p:nvSpPr>
        <p:spPr>
          <a:xfrm>
            <a:off x="8386877" y="2423160"/>
            <a:ext cx="2936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 commit มีข้อความบอก</a:t>
            </a:r>
            <a:endParaRPr lang="en-US" sz="1250"/>
          </a:p>
        </p:txBody>
      </p:sp>
      <p:sp>
        <p:nvSpPr>
          <p:cNvPr id="14" name="Text 12"/>
          <p:cNvSpPr txBox="1"/>
          <p:nvPr/>
        </p:nvSpPr>
        <p:spPr>
          <a:xfrm>
            <a:off x="594360" y="301752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 พื้นที่ที่ต้องเข้าใจ</a:t>
            </a:r>
            <a:endParaRPr lang="en-US" sz="150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3411626" cy="1234440"/>
          </a:xfrm>
          <a:prstGeom prst="roundRect">
            <a:avLst>
              <a:gd name="adj" fmla="val 740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" y="3584448"/>
            <a:ext cx="3119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Working Directory</a:t>
            </a:r>
            <a:endParaRPr lang="en-US" sz="1450"/>
          </a:p>
        </p:txBody>
      </p:sp>
      <p:sp>
        <p:nvSpPr>
          <p:cNvPr id="17" name="Text 15"/>
          <p:cNvSpPr txBox="1"/>
          <p:nvPr/>
        </p:nvSpPr>
        <p:spPr>
          <a:xfrm>
            <a:off x="740664" y="3986784"/>
            <a:ext cx="3119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โต๊ะทำงาน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ไฟล์ที่กำลังแก้อยู่ตอนนี้</a:t>
            </a:r>
            <a:endParaRPr lang="en-US" sz="1150"/>
          </a:p>
        </p:txBody>
      </p:sp>
      <p:sp>
        <p:nvSpPr>
          <p:cNvPr id="18" name="Shape 16"/>
          <p:cNvSpPr/>
          <p:nvPr/>
        </p:nvSpPr>
        <p:spPr>
          <a:xfrm>
            <a:off x="4060850" y="3881628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90034" y="3401568"/>
            <a:ext cx="3411626" cy="1234440"/>
          </a:xfrm>
          <a:prstGeom prst="roundRect">
            <a:avLst>
              <a:gd name="adj" fmla="val 740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36338" y="3584448"/>
            <a:ext cx="3119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Staging Area</a:t>
            </a:r>
            <a:endParaRPr lang="en-US" sz="1450"/>
          </a:p>
        </p:txBody>
      </p:sp>
      <p:sp>
        <p:nvSpPr>
          <p:cNvPr id="21" name="Text 19"/>
          <p:cNvSpPr txBox="1"/>
          <p:nvPr/>
        </p:nvSpPr>
        <p:spPr>
          <a:xfrm>
            <a:off x="4536338" y="3986784"/>
            <a:ext cx="3119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ถาดเตรียมของ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เลือกว่าจะบันทึกอะไรบ้าง</a:t>
            </a:r>
            <a:endParaRPr lang="en-US" sz="1150"/>
          </a:p>
        </p:txBody>
      </p:sp>
      <p:sp>
        <p:nvSpPr>
          <p:cNvPr id="22" name="Shape 20"/>
          <p:cNvSpPr/>
          <p:nvPr/>
        </p:nvSpPr>
        <p:spPr>
          <a:xfrm>
            <a:off x="7856525" y="3881628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5709" y="3401568"/>
            <a:ext cx="3411626" cy="1234440"/>
          </a:xfrm>
          <a:prstGeom prst="roundRect">
            <a:avLst>
              <a:gd name="adj" fmla="val 7407"/>
            </a:avLst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32013" y="3584448"/>
            <a:ext cx="3119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Repository</a:t>
            </a:r>
            <a:endParaRPr lang="en-US" sz="1450"/>
          </a:p>
        </p:txBody>
      </p:sp>
      <p:sp>
        <p:nvSpPr>
          <p:cNvPr id="25" name="Text 23"/>
          <p:cNvSpPr txBox="1"/>
          <p:nvPr/>
        </p:nvSpPr>
        <p:spPr>
          <a:xfrm>
            <a:off x="8332013" y="3986784"/>
            <a:ext cx="3119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กล่องเก็บถาวร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ย้อนกลับมาได้ตลอด</a:t>
            </a:r>
            <a:endParaRPr lang="en-US" sz="1150"/>
          </a:p>
        </p:txBody>
      </p:sp>
      <p:sp>
        <p:nvSpPr>
          <p:cNvPr id="26" name="Text 24"/>
          <p:cNvSpPr txBox="1"/>
          <p:nvPr/>
        </p:nvSpPr>
        <p:spPr>
          <a:xfrm>
            <a:off x="3466490" y="46817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C46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200"/>
          </a:p>
        </p:txBody>
      </p:sp>
      <p:sp>
        <p:nvSpPr>
          <p:cNvPr id="27" name="Text 25"/>
          <p:cNvSpPr txBox="1"/>
          <p:nvPr/>
        </p:nvSpPr>
        <p:spPr>
          <a:xfrm>
            <a:off x="7646213" y="46817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C46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200"/>
          </a:p>
        </p:txBody>
      </p:sp>
      <p:sp>
        <p:nvSpPr>
          <p:cNvPr id="28" name="Shape 26"/>
          <p:cNvSpPr/>
          <p:nvPr/>
        </p:nvSpPr>
        <p:spPr>
          <a:xfrm>
            <a:off x="594360" y="5120640"/>
            <a:ext cx="11002975" cy="713232"/>
          </a:xfrm>
          <a:prstGeom prst="roundRect">
            <a:avLst>
              <a:gd name="adj" fmla="val 10256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5528" y="5303520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394960"/>
            <a:ext cx="164592" cy="16459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252728" y="521208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ประโยคที่อยากให้จำ: ตั้งแต่วินาทีที่ commit ครั้งแรก คุณพังงานตัวเองไม่ได้อีกแล้ว</a:t>
            </a:r>
            <a:endParaRPr lang="en-US" sz="1250"/>
          </a:p>
        </p:txBody>
      </p:sp>
      <p:sp>
        <p:nvSpPr>
          <p:cNvPr id="32" name="Shape 29"/>
          <p:cNvSpPr/>
          <p:nvPr/>
        </p:nvSpPr>
        <p:spPr>
          <a:xfrm>
            <a:off x="594360" y="5943600"/>
            <a:ext cx="11002975" cy="658368"/>
          </a:xfrm>
          <a:prstGeom prst="roundRect">
            <a:avLst>
              <a:gd name="adj" fmla="val 11111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" y="6099048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6190488"/>
            <a:ext cx="164592" cy="164592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252728" y="6035040"/>
            <a:ext cx="10088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แบบฝึกที่ห้ามข้าม: ลบเนื้อหาใน SPEC.md ทิ้งทั้งหมด บันทึก แล้วกู้กลับด้วย git restore SPEC.md</a:t>
            </a:r>
            <a:endParaRPr lang="en-US" sz="12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4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ชุดคำสั่งที่จะใช้ตลอด 2 วัน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11002975" cy="2679752"/>
          </a:xfrm>
          <a:prstGeom prst="roundRect">
            <a:avLst>
              <a:gd name="adj" fmla="val 3137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64208"/>
            <a:ext cx="10545775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                  # เริ่มบันทึกประวัติของโฟลเดอร์นี้</a:t>
            </a:r>
            <a:endParaRPr lang="en-US" sz="1350"/>
          </a:p>
          <a:p>
            <a:pPr marL="0" indent="0">
              <a:lnSpc>
                <a:spcPct val="105000"/>
              </a:lnSpc>
              <a:buNone/>
            </a:pPr>
            <a:r>
              <a:rPr lang="en-US" sz="13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                # ตอนนี้มีอะไรเปลี่ยนบ้าง (ใช้บ่อยที่สุด)</a:t>
            </a:r>
            <a:endParaRPr lang="en-US" sz="1350"/>
          </a:p>
          <a:p>
            <a:pPr marL="0" indent="0">
              <a:lnSpc>
                <a:spcPct val="105000"/>
              </a:lnSpc>
              <a:buNone/>
            </a:pPr>
            <a:r>
              <a:rPr lang="en-US" sz="13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                 # หยิบทุกไฟล์ที่เปลี่ยนใส่ถาด</a:t>
            </a:r>
            <a:endParaRPr lang="en-US" sz="1350"/>
          </a:p>
          <a:p>
            <a:pPr marL="0" indent="0">
              <a:lnSpc>
                <a:spcPct val="105000"/>
              </a:lnSpc>
              <a:buNone/>
            </a:pPr>
            <a:r>
              <a:rPr lang="en-US" sz="13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"ข้อความ"    # บันทึกจริง</a:t>
            </a:r>
            <a:endParaRPr lang="en-US" sz="1350"/>
          </a:p>
          <a:p>
            <a:pPr marL="0" indent="0">
              <a:lnSpc>
                <a:spcPct val="105000"/>
              </a:lnSpc>
              <a:buNone/>
            </a:pPr>
            <a:r>
              <a:rPr lang="en-US" sz="13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        # ดูประวัติแบบย่อ</a:t>
            </a:r>
            <a:endParaRPr lang="en-US" sz="1350"/>
          </a:p>
          <a:p>
            <a:pPr marL="0" indent="0">
              <a:lnSpc>
                <a:spcPct val="105000"/>
              </a:lnSpc>
              <a:buNone/>
            </a:pPr>
            <a:r>
              <a:rPr lang="en-US" sz="13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                 # ดูสิ่งที่แก้แต่ยังไม่ได้ add</a:t>
            </a:r>
            <a:endParaRPr lang="en-US" sz="1350"/>
          </a:p>
          <a:p>
            <a:pPr marL="0" indent="0">
              <a:lnSpc>
                <a:spcPct val="105000"/>
              </a:lnSpc>
              <a:buNone/>
            </a:pPr>
            <a:r>
              <a:rPr lang="en-US" sz="13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--staged         # ดูสิ่งที่อยู่ในถาดรอ commit</a:t>
            </a:r>
            <a:endParaRPr lang="en-US" sz="1350"/>
          </a:p>
          <a:p>
            <a:pPr marL="0" indent="0">
              <a:lnSpc>
                <a:spcPct val="105000"/>
              </a:lnSpc>
              <a:buNone/>
            </a:pPr>
            <a:r>
              <a:rPr lang="en-US" sz="13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&lt;ไฟล์&gt;         # กู้ไฟล์กลับเป็นเหมือน commit ล่าสุด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594360" y="4304215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4560247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ข้อความ commit ที่ไม่ควรใช้</a:t>
            </a:r>
            <a:endParaRPr lang="en-US" sz="1400"/>
          </a:p>
        </p:txBody>
      </p:sp>
      <p:sp>
        <p:nvSpPr>
          <p:cNvPr id="8" name="Text 6"/>
          <p:cNvSpPr txBox="1"/>
          <p:nvPr/>
        </p:nvSpPr>
        <p:spPr>
          <a:xfrm>
            <a:off x="868680" y="4944295"/>
            <a:ext cx="48156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update</a:t>
            </a:r>
            <a:endParaRPr lang="en-US" sz="1400"/>
          </a:p>
          <a:p>
            <a:pPr marL="0" indent="0">
              <a:lnSpc>
                <a:spcPct val="118000"/>
              </a:lnSpc>
              <a:buNone/>
            </a:pPr>
            <a:r>
              <a:rPr lang="en-US" sz="14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fix</a:t>
            </a:r>
            <a:endParaRPr lang="en-US" sz="1400"/>
          </a:p>
          <a:p>
            <a:pPr marL="0" indent="0">
              <a:lnSpc>
                <a:spcPct val="118000"/>
              </a:lnSpc>
              <a:buNone/>
            </a:pPr>
            <a:r>
              <a:rPr lang="en-US" sz="14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test 1</a:t>
            </a:r>
            <a:endParaRPr lang="en-US" sz="1400"/>
          </a:p>
        </p:txBody>
      </p:sp>
      <p:sp>
        <p:nvSpPr>
          <p:cNvPr id="9" name="Shape 7"/>
          <p:cNvSpPr/>
          <p:nvPr/>
        </p:nvSpPr>
        <p:spPr>
          <a:xfrm>
            <a:off x="6233008" y="4304215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07328" y="4560247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ข้อความ commit ที่ดี</a:t>
            </a:r>
            <a:endParaRPr lang="en-US" sz="1400"/>
          </a:p>
        </p:txBody>
      </p:sp>
      <p:sp>
        <p:nvSpPr>
          <p:cNvPr id="11" name="Text 9"/>
          <p:cNvSpPr txBox="1"/>
          <p:nvPr/>
        </p:nvSpPr>
        <p:spPr>
          <a:xfrm>
            <a:off x="6507328" y="4944295"/>
            <a:ext cx="48156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เพิ่มฟอร์มบันทึกอุปกรณ์และแสดงผลเป็นตาราง</a:t>
            </a:r>
            <a:endParaRPr lang="en-US" sz="1300"/>
          </a:p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แก้ปัญหาค้นหาไม่เจอเมื่อพิมพ์ตัวพิมพ์ใหญ่</a:t>
            </a:r>
            <a:endParaRPr lang="en-US" sz="1300"/>
          </a:p>
          <a:p>
            <a:pPr marL="0" indent="0">
              <a:lnSpc>
                <a:spcPct val="118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เพิ่มปุ่มส่งออกไฟล์ CSV</a:t>
            </a:r>
            <a:endParaRPr lang="en-US" sz="13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5  ·  14.00 – 15.00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 — เครื่องเรา กับ คลาวด์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4206240" cy="2011680"/>
          </a:xfrm>
          <a:prstGeom prst="roundRect">
            <a:avLst>
              <a:gd name="adj" fmla="val 4545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737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เครื่องของเรา</a:t>
            </a:r>
            <a:endParaRPr lang="en-US" sz="170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โฟลเดอร์โปรเจค + ประวัติ Git</a:t>
            </a:r>
            <a:endParaRPr lang="en-US" sz="130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ทำงานได้แม้ไม่มีอินเทอร์เน็ต</a:t>
            </a:r>
            <a:endParaRPr lang="en-US" sz="1300"/>
          </a:p>
        </p:txBody>
      </p:sp>
      <p:sp>
        <p:nvSpPr>
          <p:cNvPr id="7" name="Shape 5"/>
          <p:cNvSpPr/>
          <p:nvPr/>
        </p:nvSpPr>
        <p:spPr>
          <a:xfrm>
            <a:off x="7391095" y="1554480"/>
            <a:ext cx="4206240" cy="2011680"/>
          </a:xfrm>
          <a:prstGeom prst="roundRect">
            <a:avLst>
              <a:gd name="adj" fmla="val 4545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91095" y="1737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</a:t>
            </a:r>
            <a:endParaRPr lang="en-US" sz="1700"/>
          </a:p>
        </p:txBody>
      </p:sp>
      <p:sp>
        <p:nvSpPr>
          <p:cNvPr id="9" name="Text 7"/>
          <p:cNvSpPr txBox="1"/>
          <p:nvPr/>
        </p:nvSpPr>
        <p:spPr>
          <a:xfrm>
            <a:off x="7665415" y="2194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สำรองงาน · ทำงานร่วมกับคนอื่น</a:t>
            </a:r>
            <a:endParaRPr lang="en-US" sz="130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เผยแพร่เว็บ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5029200" y="1874520"/>
            <a:ext cx="2468880" cy="457200"/>
          </a:xfrm>
          <a:prstGeom prst="rightArrow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push  — ส่งขึ้น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5029200" y="2697480"/>
            <a:ext cx="2468880" cy="457200"/>
          </a:xfrm>
          <a:prstGeom prst="leftArrow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pull  — ดึงลง</a:t>
            </a:r>
            <a:endParaRPr lang="en-US" sz="1250"/>
          </a:p>
        </p:txBody>
      </p:sp>
      <p:sp>
        <p:nvSpPr>
          <p:cNvPr id="14" name="Shape 12"/>
          <p:cNvSpPr/>
          <p:nvPr/>
        </p:nvSpPr>
        <p:spPr>
          <a:xfrm>
            <a:off x="594360" y="3794760"/>
            <a:ext cx="11002975" cy="1051560"/>
          </a:xfrm>
          <a:prstGeom prst="roundRect">
            <a:avLst>
              <a:gd name="adj" fmla="val 6957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95928"/>
            <a:ext cx="10545775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https://github.com/&lt;ชื่อผู้ใช้&gt;/it-asset-tracker.git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main        # ครั้งต่อไปพิมพ์แค่ git push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594360" y="5029200"/>
            <a:ext cx="11002975" cy="731520"/>
          </a:xfrm>
          <a:prstGeom prst="roundRect">
            <a:avLst>
              <a:gd name="adj" fmla="val 10000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528" y="5221224"/>
            <a:ext cx="347472" cy="347472"/>
          </a:xfrm>
          <a:prstGeom prst="ellipse">
            <a:avLst/>
          </a:prstGeom>
          <a:solidFill>
            <a:srgbClr val="A33A3A"/>
          </a:solidFill>
          <a:ln w="12700">
            <a:solidFill>
              <a:srgbClr val="A33A3A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312664"/>
            <a:ext cx="164592" cy="16459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52728" y="512064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ตอนสร้าง repository อย่าติ๊ก “Add a README file” เด็ดขาด เพราะจะเกิดประวัติคนละสายกับในเครื่อง แล้ว push ครั้งแรกจะถูกปฏิเสธ</a:t>
            </a:r>
            <a:endParaRPr lang="en-US" sz="1250"/>
          </a:p>
        </p:txBody>
      </p:sp>
      <p:sp>
        <p:nvSpPr>
          <p:cNvPr id="20" name="Shape 17"/>
          <p:cNvSpPr/>
          <p:nvPr/>
        </p:nvSpPr>
        <p:spPr>
          <a:xfrm>
            <a:off x="594360" y="5806440"/>
            <a:ext cx="11002975" cy="621792"/>
          </a:xfrm>
          <a:prstGeom prst="roundRect">
            <a:avLst>
              <a:gd name="adj" fmla="val 11765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95528" y="5943600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6035040"/>
            <a:ext cx="164592" cy="16459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52728" y="589788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ตั้ง repository เป็น Public เพราะ GitHub Pages แพลนฟรีต้องใช้ Public และเพื่อนจะรีวิว Pull Request กันได้ในหัวข้อ 9</a:t>
            </a:r>
            <a:endParaRPr lang="en-US" sz="12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6  ·  15.15 – 16.15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ครั้งแรก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1002975" cy="868680"/>
          </a:xfrm>
          <a:prstGeom prst="roundRect">
            <a:avLst>
              <a:gd name="adj" fmla="val 10526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chat พูดได้อย่างเดียว   ·   Code ลงมือได้   ·   เพราะมันลงมือได้ เราจึงต้องตรวจ</a:t>
            </a:r>
            <a:endParaRPr lang="en-US" sz="190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368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/>
          </a:p>
        </p:txBody>
      </p:sp>
      <p:sp>
        <p:nvSpPr>
          <p:cNvPr id="8" name="Text 6"/>
          <p:cNvSpPr txBox="1"/>
          <p:nvPr/>
        </p:nvSpPr>
        <p:spPr>
          <a:xfrm>
            <a:off x="1197864" y="233172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ยืนยันว่าเปิดถูกโฟลเดอร์ก่อนเสมอ</a:t>
            </a:r>
            <a:endParaRPr lang="en-US" sz="1450"/>
          </a:p>
        </p:txBody>
      </p:sp>
      <p:sp>
        <p:nvSpPr>
          <p:cNvPr id="9" name="Text 7"/>
          <p:cNvSpPr txBox="1"/>
          <p:nvPr/>
        </p:nvSpPr>
        <p:spPr>
          <a:xfrm>
            <a:off x="1197864" y="2615184"/>
            <a:ext cx="10399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Explorer ต้องขึ้นชื่อ IT-ASSET-TRACKER และเห็นไฟล์ SPEC.md — นี่คือข้อผิดพลาดอันดับหนึ่งของคาบนี้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594360" y="3063240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06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/>
          </a:p>
        </p:txBody>
      </p:sp>
      <p:sp>
        <p:nvSpPr>
          <p:cNvPr id="12" name="Text 10"/>
          <p:cNvSpPr txBox="1"/>
          <p:nvPr/>
        </p:nvSpPr>
        <p:spPr>
          <a:xfrm>
            <a:off x="1197864" y="3026664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 CLAUDE.md</a:t>
            </a:r>
            <a:endParaRPr lang="en-US" sz="1450"/>
          </a:p>
        </p:txBody>
      </p:sp>
      <p:sp>
        <p:nvSpPr>
          <p:cNvPr id="13" name="Text 11"/>
          <p:cNvSpPr txBox="1"/>
          <p:nvPr/>
        </p:nvSpPr>
        <p:spPr>
          <a:xfrm>
            <a:off x="1197864" y="3310128"/>
            <a:ext cx="10399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กฎประจำบ้านที่ Claude อ่านทุกครั้ง ไม่ต้องพิมพ์ซ้ำทุกรอบ และ commit ขึ้น Git ได้เหมือนไฟล์อื่น</a:t>
            </a:r>
            <a:endParaRPr lang="en-US" sz="1250"/>
          </a:p>
        </p:txBody>
      </p:sp>
      <p:sp>
        <p:nvSpPr>
          <p:cNvPr id="14" name="Shape 12"/>
          <p:cNvSpPr/>
          <p:nvPr/>
        </p:nvSpPr>
        <p:spPr>
          <a:xfrm>
            <a:off x="594360" y="3758184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758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/>
          </a:p>
        </p:txBody>
      </p:sp>
      <p:sp>
        <p:nvSpPr>
          <p:cNvPr id="16" name="Text 14"/>
          <p:cNvSpPr txBox="1"/>
          <p:nvPr/>
        </p:nvSpPr>
        <p:spPr>
          <a:xfrm>
            <a:off x="1197864" y="3721608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สั่งงานทีละก้อน แล้วขอแผนก่อนลงมือ</a:t>
            </a:r>
            <a:endParaRPr lang="en-US" sz="1450"/>
          </a:p>
        </p:txBody>
      </p:sp>
      <p:sp>
        <p:nvSpPr>
          <p:cNvPr id="17" name="Text 15"/>
          <p:cNvSpPr txBox="1"/>
          <p:nvPr/>
        </p:nvSpPr>
        <p:spPr>
          <a:xfrm>
            <a:off x="1197864" y="4005072"/>
            <a:ext cx="10399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ระบุด้วยว่าอะไร “ยังไม่ต้องทำ” เพื่อคุมขอบเขตของผลลัพธ์</a:t>
            </a:r>
            <a:endParaRPr lang="en-US" sz="1250"/>
          </a:p>
        </p:txBody>
      </p:sp>
      <p:sp>
        <p:nvSpPr>
          <p:cNvPr id="18" name="Shape 16"/>
          <p:cNvSpPr/>
          <p:nvPr/>
        </p:nvSpPr>
        <p:spPr>
          <a:xfrm>
            <a:off x="594360" y="4453128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4453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/>
          </a:p>
        </p:txBody>
      </p:sp>
      <p:sp>
        <p:nvSpPr>
          <p:cNvPr id="20" name="Text 18"/>
          <p:cNvSpPr txBox="1"/>
          <p:nvPr/>
        </p:nvSpPr>
        <p:spPr>
          <a:xfrm>
            <a:off x="1197864" y="4416552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อ่านหน้าเทียบ diff แล้วค่อยกดรับ</a:t>
            </a:r>
            <a:endParaRPr lang="en-US" sz="1450"/>
          </a:p>
        </p:txBody>
      </p:sp>
      <p:sp>
        <p:nvSpPr>
          <p:cNvPr id="21" name="Text 19"/>
          <p:cNvSpPr txBox="1"/>
          <p:nvPr/>
        </p:nvSpPr>
        <p:spPr>
          <a:xfrm>
            <a:off x="1197864" y="4700016"/>
            <a:ext cx="10399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ซ้ายคือของเดิม ขวาคือที่เสนอ แก้เนื้อหาฝั่งขวาเองก่อนกดรับก็ได้</a:t>
            </a:r>
            <a:endParaRPr lang="en-US" sz="1250"/>
          </a:p>
        </p:txBody>
      </p:sp>
      <p:sp>
        <p:nvSpPr>
          <p:cNvPr id="22" name="Shape 20"/>
          <p:cNvSpPr/>
          <p:nvPr/>
        </p:nvSpPr>
        <p:spPr>
          <a:xfrm>
            <a:off x="594360" y="5148072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5148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300"/>
          </a:p>
        </p:txBody>
      </p:sp>
      <p:sp>
        <p:nvSpPr>
          <p:cNvPr id="24" name="Text 22"/>
          <p:cNvSpPr txBox="1"/>
          <p:nvPr/>
        </p:nvSpPr>
        <p:spPr>
          <a:xfrm>
            <a:off x="1197864" y="5111496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ทดสอบในเบราว์เซอร์ แล้ว commit ด้วยมือตัวเอง</a:t>
            </a:r>
            <a:endParaRPr lang="en-US" sz="1450"/>
          </a:p>
        </p:txBody>
      </p:sp>
      <p:sp>
        <p:nvSpPr>
          <p:cNvPr id="25" name="Text 23"/>
          <p:cNvSpPr txBox="1"/>
          <p:nvPr/>
        </p:nvSpPr>
        <p:spPr>
          <a:xfrm>
            <a:off x="1197864" y="5394960"/>
            <a:ext cx="10399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วันแรกพิมพ์คำสั่ง Git เองทั้งหมด เพื่อให้จำได้จริง</a:t>
            </a:r>
            <a:endParaRPr lang="en-US" sz="1250"/>
          </a:p>
        </p:txBody>
      </p:sp>
      <p:sp>
        <p:nvSpPr>
          <p:cNvPr id="26" name="Shape 24"/>
          <p:cNvSpPr/>
          <p:nvPr/>
        </p:nvSpPr>
        <p:spPr>
          <a:xfrm>
            <a:off x="594360" y="5897880"/>
            <a:ext cx="11002975" cy="566928"/>
          </a:xfrm>
          <a:prstGeom prst="roundRect">
            <a:avLst>
              <a:gd name="adj" fmla="val 12903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5528" y="6007608"/>
            <a:ext cx="347472" cy="347472"/>
          </a:xfrm>
          <a:prstGeom prst="ellipse">
            <a:avLst/>
          </a:prstGeom>
          <a:solidFill>
            <a:srgbClr val="A33A3A"/>
          </a:solidFill>
          <a:ln w="12700">
            <a:solidFill>
              <a:srgbClr val="A33A3A"/>
            </a:solidFill>
            <a:prstDash val="solid"/>
          </a:ln>
        </p:spPr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6099048"/>
            <a:ext cx="164592" cy="164592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252728" y="598932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ห้ามเปลี่ยนโหมดเป็น Auto หรือ Edit automatically ตลอดวันแรก เพราะจะไม่เห็นหน้าเทียบ diff อีกเลย</a:t>
            </a:r>
            <a:endParaRPr lang="en-US" sz="12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6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CLAUDE.md — กฎประจำบ้านของโปรเจค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6766560" cy="4297680"/>
          </a:xfrm>
          <a:prstGeom prst="roundRect">
            <a:avLst>
              <a:gd name="adj" fmla="val 1702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64208"/>
            <a:ext cx="630936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กฎของโปรเจคนี้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ภาษา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ตอบและอธิบายเป็นภาษาไทย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ชื่อตัวแปรและชื่อฟังก์ชันใช้ภาษาอังกฤษ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เทคโนโลยี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ใช้ HTML, CSS และ JavaScript ล้วนเท่านั้น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ห้ามเพิ่ม framework, ห้ามใช้ไลบรารีจากอินเทอร์เน็ต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เก็บข้อมูลด้วย localStorage ไม่มีเซิร์ฟเวอร์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วิธีทำงานร่วมกัน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ทำทีละงาน อย่าทำหลายเรื่องพร้อมกัน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ก่อนแก้ไฟล์ ให้บอกก่อนว่าจะแก้อะไร ที่ไหน เพราะอะไร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ห้ามลบหรือจัดรูปแบบโค้ดส่วนที่ไม่เกี่ยวกับงานที่สั่ง</a:t>
            </a:r>
            <a:endParaRPr lang="en-US" sz="1250"/>
          </a:p>
        </p:txBody>
      </p:sp>
      <p:sp>
        <p:nvSpPr>
          <p:cNvPr id="6" name="Shape 4"/>
          <p:cNvSpPr/>
          <p:nvPr/>
        </p:nvSpPr>
        <p:spPr>
          <a:xfrm>
            <a:off x="7635240" y="1463040"/>
            <a:ext cx="3962095" cy="2057400"/>
          </a:xfrm>
          <a:prstGeom prst="roundRect">
            <a:avLst>
              <a:gd name="adj" fmla="val 4444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0" y="171907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8562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909560" y="243230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สร้างอย่างไร</a:t>
            </a:r>
            <a:endParaRPr lang="en-US" sz="1600"/>
          </a:p>
        </p:txBody>
      </p:sp>
      <p:sp>
        <p:nvSpPr>
          <p:cNvPr id="10" name="Text 7"/>
          <p:cNvSpPr txBox="1"/>
          <p:nvPr/>
        </p:nvSpPr>
        <p:spPr>
          <a:xfrm>
            <a:off x="7909560" y="2816352"/>
            <a:ext cx="341345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พิมพ์สั่งเป็นภาษาไทยตรง ๆ ในหน้าต่างสนทนา หรือใช้เมนูคำสั่งด้วยเครื่องหมาย /</a:t>
            </a:r>
            <a:endParaRPr lang="en-US" sz="1250"/>
          </a:p>
        </p:txBody>
      </p:sp>
      <p:sp>
        <p:nvSpPr>
          <p:cNvPr id="11" name="Shape 8"/>
          <p:cNvSpPr/>
          <p:nvPr/>
        </p:nvSpPr>
        <p:spPr>
          <a:xfrm>
            <a:off x="7635240" y="3703320"/>
            <a:ext cx="3962095" cy="2057400"/>
          </a:xfrm>
          <a:prstGeom prst="roundRect">
            <a:avLst>
              <a:gd name="adj" fmla="val 4444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09560" y="395935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096512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909560" y="467258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ทำไมถึงสำคัญ</a:t>
            </a:r>
            <a:endParaRPr lang="en-US" sz="1600"/>
          </a:p>
        </p:txBody>
      </p:sp>
      <p:sp>
        <p:nvSpPr>
          <p:cNvPr id="15" name="Text 11"/>
          <p:cNvSpPr txBox="1"/>
          <p:nvPr/>
        </p:nvSpPr>
        <p:spPr>
          <a:xfrm>
            <a:off x="7909560" y="5056632"/>
            <a:ext cx="341345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ไฟล์นี้ commit ขึ้น Git ได้ แปลว่ากฎการทำงานกับ AI ก็มีประวัติ และแชร์กับทีมได้</a:t>
            </a:r>
            <a:endParaRPr lang="en-US" sz="1250"/>
          </a:p>
        </p:txBody>
      </p:sp>
      <p:sp>
        <p:nvSpPr>
          <p:cNvPr id="16" name="Shape 12"/>
          <p:cNvSpPr/>
          <p:nvPr/>
        </p:nvSpPr>
        <p:spPr>
          <a:xfrm>
            <a:off x="594360" y="5943600"/>
            <a:ext cx="11002975" cy="658368"/>
          </a:xfrm>
          <a:prstGeom prst="roundRect">
            <a:avLst>
              <a:gd name="adj" fmla="val 11111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95528" y="6099048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6190488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52728" y="6035040"/>
            <a:ext cx="10088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รายละเอียดข้อกำหนดทั้งหมดอยู่ใน SPEC.md ส่วน CLAUDE.md เก็บเฉพาะ “กฎ” ที่ต้องใช้ทุกครั้ง</a:t>
            </a:r>
            <a:endParaRPr lang="en-US" sz="12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6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prompt แรก และการอ่าน diff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11002975" cy="2569464"/>
          </a:xfrm>
          <a:prstGeom prst="roundRect">
            <a:avLst>
              <a:gd name="adj" fmla="val 3559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1655064"/>
            <a:ext cx="384048" cy="38404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1755648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73352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prompt แรกของโปรเจค</a:t>
            </a:r>
            <a:endParaRPr lang="en-US" sz="1200"/>
          </a:p>
        </p:txBody>
      </p:sp>
      <p:sp>
        <p:nvSpPr>
          <p:cNvPr id="8" name="Text 5"/>
          <p:cNvSpPr txBox="1"/>
          <p:nvPr/>
        </p:nvSpPr>
        <p:spPr>
          <a:xfrm>
            <a:off x="1325880" y="2020824"/>
            <a:ext cx="999713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3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อ่านไฟล์ @SPEC.md และ @CLAUDE.md ก่อน แล้วสร้างไฟล์ index.html ขึ้นมาใหม่</a:t>
            </a:r>
            <a:endParaRPr lang="en-US" sz="1300"/>
          </a:p>
          <a:p>
            <a:pPr marL="0" indent="0">
              <a:lnSpc>
                <a:spcPct val="114000"/>
              </a:lnSpc>
              <a:buNone/>
            </a:pPr>
            <a:r>
              <a:rPr lang="en-US" sz="13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endParaRPr lang="en-US" sz="1300"/>
          </a:p>
          <a:p>
            <a:pPr marL="0" indent="0">
              <a:lnSpc>
                <a:spcPct val="114000"/>
              </a:lnSpc>
              <a:buNone/>
            </a:pPr>
            <a:r>
              <a:rPr lang="en-US" sz="13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ขอบเขตของรอบนี้ ทำแค่ 2 อย่าง คือ 1) ฟอร์มเพิ่มอุปกรณ์  2) ตารางแสดงรายการ</a:t>
            </a:r>
            <a:endParaRPr lang="en-US" sz="1300"/>
          </a:p>
          <a:p>
            <a:pPr marL="0" indent="0">
              <a:lnSpc>
                <a:spcPct val="114000"/>
              </a:lnSpc>
              <a:buNone/>
            </a:pPr>
            <a:r>
              <a:rPr lang="en-US" sz="13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- เก็บข้อมูลใน localStorage  - ข้อความบนหน้าจอเป็นภาษาไทย</a:t>
            </a:r>
            <a:endParaRPr lang="en-US" sz="1300"/>
          </a:p>
          <a:p>
            <a:pPr marL="0" indent="0">
              <a:lnSpc>
                <a:spcPct val="114000"/>
              </a:lnSpc>
              <a:buNone/>
            </a:pPr>
            <a:r>
              <a:rPr lang="en-US" sz="13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- ยังไม่ต้องทำการค้นหา แก้ไข หรือลบ จะทำในรอบถัดไป</a:t>
            </a:r>
            <a:endParaRPr lang="en-US" sz="1300"/>
          </a:p>
          <a:p>
            <a:pPr marL="0" indent="0">
              <a:lnSpc>
                <a:spcPct val="114000"/>
              </a:lnSpc>
              <a:buNone/>
            </a:pPr>
            <a:r>
              <a:rPr lang="en-US" sz="13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endParaRPr lang="en-US" sz="1300"/>
          </a:p>
          <a:p>
            <a:pPr marL="0" indent="0">
              <a:lnSpc>
                <a:spcPct val="114000"/>
              </a:lnSpc>
              <a:buNone/>
            </a:pPr>
            <a:r>
              <a:rPr lang="en-US" sz="13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ก่อนลงมือเขียน ให้บอกผมก่อนว่าจะสร้างอะไรบ้าง รอผมตอบว่าโอเคแล้วค่อยเขียนไฟล์</a:t>
            </a:r>
            <a:endParaRPr lang="en-US" sz="1300"/>
          </a:p>
        </p:txBody>
      </p:sp>
      <p:sp>
        <p:nvSpPr>
          <p:cNvPr id="9" name="Text 6"/>
          <p:cNvSpPr txBox="1"/>
          <p:nvPr/>
        </p:nvSpPr>
        <p:spPr>
          <a:xfrm>
            <a:off x="594360" y="411480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สิ่งที่ต้องดู 3 อย่างก่อนกดรับ</a:t>
            </a:r>
            <a:endParaRPr lang="en-US" sz="1500"/>
          </a:p>
        </p:txBody>
      </p:sp>
      <p:sp>
        <p:nvSpPr>
          <p:cNvPr id="10" name="Shape 7"/>
          <p:cNvSpPr/>
          <p:nvPr/>
        </p:nvSpPr>
        <p:spPr>
          <a:xfrm>
            <a:off x="594360" y="448056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73659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87375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68680" y="544982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ไฟล์ไหน</a:t>
            </a:r>
            <a:endParaRPr lang="en-US" sz="1600"/>
          </a:p>
        </p:txBody>
      </p:sp>
      <p:sp>
        <p:nvSpPr>
          <p:cNvPr id="14" name="Text 10"/>
          <p:cNvSpPr txBox="1"/>
          <p:nvPr/>
        </p:nvSpPr>
        <p:spPr>
          <a:xfrm>
            <a:off x="868680" y="5833872"/>
            <a:ext cx="293613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ใช่ไฟล์ที่เราตั้งใจหรือไม่ ถ้าไม่เกี่ยวให้กดปฏิเสธทันที</a:t>
            </a:r>
            <a:endParaRPr lang="en-US" sz="1200"/>
          </a:p>
        </p:txBody>
      </p:sp>
      <p:sp>
        <p:nvSpPr>
          <p:cNvPr id="15" name="Shape 11"/>
          <p:cNvSpPr/>
          <p:nvPr/>
        </p:nvSpPr>
        <p:spPr>
          <a:xfrm>
            <a:off x="4353458" y="448056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627778" y="473659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938" y="48737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627778" y="544982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ใหญ่แค่ไหน</a:t>
            </a:r>
            <a:endParaRPr lang="en-US" sz="1600"/>
          </a:p>
        </p:txBody>
      </p:sp>
      <p:sp>
        <p:nvSpPr>
          <p:cNvPr id="19" name="Text 14"/>
          <p:cNvSpPr txBox="1"/>
          <p:nvPr/>
        </p:nvSpPr>
        <p:spPr>
          <a:xfrm>
            <a:off x="4627778" y="5833872"/>
            <a:ext cx="293613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ขอเพิ่มปุ่ม 1 ปุ่ม แต่เปลี่ยนเกือบทั้งไฟล์ = มีบางอย่างผิด</a:t>
            </a:r>
            <a:endParaRPr lang="en-US" sz="1200"/>
          </a:p>
        </p:txBody>
      </p:sp>
      <p:sp>
        <p:nvSpPr>
          <p:cNvPr id="20" name="Shape 15"/>
          <p:cNvSpPr/>
          <p:nvPr/>
        </p:nvSpPr>
        <p:spPr>
          <a:xfrm>
            <a:off x="8112557" y="448056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386877" y="473659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4037" y="487375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86877" y="544982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ตรงที่สั่งไหม</a:t>
            </a:r>
            <a:endParaRPr lang="en-US" sz="1600"/>
          </a:p>
        </p:txBody>
      </p:sp>
      <p:sp>
        <p:nvSpPr>
          <p:cNvPr id="24" name="Text 18"/>
          <p:cNvSpPr txBox="1"/>
          <p:nvPr/>
        </p:nvSpPr>
        <p:spPr>
          <a:xfrm>
            <a:off x="8386877" y="5833872"/>
            <a:ext cx="293613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ไม่แน่ใจให้ปฏิเสธ แล้วสั่งว่า “อธิบายให้ฟังก่อน ยังไม่ต้องแก้”</a:t>
            </a:r>
            <a:endParaRPr lang="en-US" sz="12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6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คีย์ลัดที่จะใช้บ่อยที่สุด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1002975" cy="484632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1536192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C2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@ชื่อไฟล์</a:t>
            </a:r>
            <a:endParaRPr lang="en-US" sz="1200"/>
          </a:p>
        </p:txBody>
      </p:sp>
      <p:sp>
        <p:nvSpPr>
          <p:cNvPr id="6" name="Text 4"/>
          <p:cNvSpPr txBox="1"/>
          <p:nvPr/>
        </p:nvSpPr>
        <p:spPr>
          <a:xfrm>
            <a:off x="3886200" y="1536192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อ้างถึงไฟล์นั้นให้ Claude อ่าน พิมพ์บางส่วนก็เดาชื่อให้</a:t>
            </a:r>
            <a:endParaRPr lang="en-US" sz="1250"/>
          </a:p>
        </p:txBody>
      </p:sp>
      <p:sp>
        <p:nvSpPr>
          <p:cNvPr id="7" name="Text 5"/>
          <p:cNvSpPr txBox="1"/>
          <p:nvPr/>
        </p:nvSpPr>
        <p:spPr>
          <a:xfrm>
            <a:off x="758952" y="2020824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เลือกโค้ดในไฟล์</a:t>
            </a:r>
            <a:endParaRPr lang="en-US" sz="1300"/>
          </a:p>
        </p:txBody>
      </p:sp>
      <p:sp>
        <p:nvSpPr>
          <p:cNvPr id="8" name="Text 6"/>
          <p:cNvSpPr txBox="1"/>
          <p:nvPr/>
        </p:nvSpPr>
        <p:spPr>
          <a:xfrm>
            <a:off x="3886200" y="2020824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เห็นส่วนที่เลือกโดยอัตโนมัติ ใช้ถามเฉพาะจุดได้เลย</a:t>
            </a:r>
            <a:endParaRPr lang="en-US" sz="1250"/>
          </a:p>
        </p:txBody>
      </p:sp>
      <p:sp>
        <p:nvSpPr>
          <p:cNvPr id="9" name="Shape 7"/>
          <p:cNvSpPr/>
          <p:nvPr/>
        </p:nvSpPr>
        <p:spPr>
          <a:xfrm>
            <a:off x="594360" y="2505456"/>
            <a:ext cx="11002975" cy="484632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2505456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C2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Alt+K  (Mac: Option+K)</a:t>
            </a:r>
            <a:endParaRPr lang="en-US" sz="1200"/>
          </a:p>
        </p:txBody>
      </p:sp>
      <p:sp>
        <p:nvSpPr>
          <p:cNvPr id="11" name="Text 9"/>
          <p:cNvSpPr txBox="1"/>
          <p:nvPr/>
        </p:nvSpPr>
        <p:spPr>
          <a:xfrm>
            <a:off x="3886200" y="2505456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แทรกการอ้างอิงพร้อมเลขบรรทัด เช่น @index.html#20-35</a:t>
            </a:r>
            <a:endParaRPr lang="en-US" sz="1250"/>
          </a:p>
        </p:txBody>
      </p:sp>
      <p:sp>
        <p:nvSpPr>
          <p:cNvPr id="12" name="Text 10"/>
          <p:cNvSpPr txBox="1"/>
          <p:nvPr/>
        </p:nvSpPr>
        <p:spPr>
          <a:xfrm>
            <a:off x="758952" y="2990088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C2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Ctrl+Esc  (Mac: Cmd+Esc)</a:t>
            </a:r>
            <a:endParaRPr lang="en-US" sz="1200"/>
          </a:p>
        </p:txBody>
      </p:sp>
      <p:sp>
        <p:nvSpPr>
          <p:cNvPr id="13" name="Text 11"/>
          <p:cNvSpPr txBox="1"/>
          <p:nvPr/>
        </p:nvSpPr>
        <p:spPr>
          <a:xfrm>
            <a:off x="3886200" y="2990088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สลับโฟกัสไปมาระหว่างไฟล์ที่แก้อยู่กับช่องพิมพ์</a:t>
            </a:r>
            <a:endParaRPr lang="en-US" sz="1250"/>
          </a:p>
        </p:txBody>
      </p:sp>
      <p:sp>
        <p:nvSpPr>
          <p:cNvPr id="14" name="Shape 12"/>
          <p:cNvSpPr/>
          <p:nvPr/>
        </p:nvSpPr>
        <p:spPr>
          <a:xfrm>
            <a:off x="594360" y="3474720"/>
            <a:ext cx="11002975" cy="484632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474720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C2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Ctrl+Shift+Esc</a:t>
            </a:r>
            <a:endParaRPr lang="en-US" sz="1200"/>
          </a:p>
        </p:txBody>
      </p:sp>
      <p:sp>
        <p:nvSpPr>
          <p:cNvPr id="16" name="Text 14"/>
          <p:cNvSpPr txBox="1"/>
          <p:nvPr/>
        </p:nvSpPr>
        <p:spPr>
          <a:xfrm>
            <a:off x="3886200" y="3474720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เปิดบทสนทนาใหม่เป็นแท็บ ใช้เมื่อเปลี่ยนไปทำอีกเรื่อง</a:t>
            </a:r>
            <a:endParaRPr lang="en-US" sz="1250"/>
          </a:p>
        </p:txBody>
      </p:sp>
      <p:sp>
        <p:nvSpPr>
          <p:cNvPr id="17" name="Text 15"/>
          <p:cNvSpPr txBox="1"/>
          <p:nvPr/>
        </p:nvSpPr>
        <p:spPr>
          <a:xfrm>
            <a:off x="758952" y="3959352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C2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Shift+Enter</a:t>
            </a:r>
            <a:endParaRPr lang="en-US" sz="1200"/>
          </a:p>
        </p:txBody>
      </p:sp>
      <p:sp>
        <p:nvSpPr>
          <p:cNvPr id="18" name="Text 16"/>
          <p:cNvSpPr txBox="1"/>
          <p:nvPr/>
        </p:nvSpPr>
        <p:spPr>
          <a:xfrm>
            <a:off x="3886200" y="3959352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ขึ้นบรรทัดใหม่ในช่องพิมพ์โดยยังไม่ส่ง</a:t>
            </a:r>
            <a:endParaRPr lang="en-US" sz="1250"/>
          </a:p>
        </p:txBody>
      </p:sp>
      <p:sp>
        <p:nvSpPr>
          <p:cNvPr id="19" name="Shape 17"/>
          <p:cNvSpPr/>
          <p:nvPr/>
        </p:nvSpPr>
        <p:spPr>
          <a:xfrm>
            <a:off x="594360" y="4443984"/>
            <a:ext cx="11002975" cy="484632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4443984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ปุ่ม Session history</a:t>
            </a:r>
            <a:endParaRPr lang="en-US" sz="1300"/>
          </a:p>
        </p:txBody>
      </p:sp>
      <p:sp>
        <p:nvSpPr>
          <p:cNvPr id="21" name="Text 19"/>
          <p:cNvSpPr txBox="1"/>
          <p:nvPr/>
        </p:nvSpPr>
        <p:spPr>
          <a:xfrm>
            <a:off x="3886200" y="4443984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เปิดบทสนทนาเก่ากลับมาทำต่อ — พรุ่งนี้เช้าจะได้ใช้</a:t>
            </a:r>
            <a:endParaRPr lang="en-US" sz="1250"/>
          </a:p>
        </p:txBody>
      </p:sp>
      <p:sp>
        <p:nvSpPr>
          <p:cNvPr id="22" name="Text 20"/>
          <p:cNvSpPr txBox="1"/>
          <p:nvPr/>
        </p:nvSpPr>
        <p:spPr>
          <a:xfrm>
            <a:off x="758952" y="4928616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เครื่องหมาย /  และปุ่ม +</a:t>
            </a:r>
            <a:endParaRPr lang="en-US" sz="1300"/>
          </a:p>
        </p:txBody>
      </p:sp>
      <p:sp>
        <p:nvSpPr>
          <p:cNvPr id="23" name="Text 21"/>
          <p:cNvSpPr txBox="1"/>
          <p:nvPr/>
        </p:nvSpPr>
        <p:spPr>
          <a:xfrm>
            <a:off x="3886200" y="4928616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เปิดเมนูคำสั่ง และแนบไฟล์หรือภาพเข้าบทสนทนา</a:t>
            </a:r>
            <a:endParaRPr lang="en-US" sz="1250"/>
          </a:p>
        </p:txBody>
      </p:sp>
      <p:sp>
        <p:nvSpPr>
          <p:cNvPr id="24" name="Shape 22"/>
          <p:cNvSpPr/>
          <p:nvPr/>
        </p:nvSpPr>
        <p:spPr>
          <a:xfrm>
            <a:off x="594360" y="5413248"/>
            <a:ext cx="11002975" cy="484632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5413248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ตัวบอกโหมดที่แถบล่างขวา</a:t>
            </a:r>
            <a:endParaRPr lang="en-US" sz="1300"/>
          </a:p>
        </p:txBody>
      </p:sp>
      <p:sp>
        <p:nvSpPr>
          <p:cNvPr id="26" name="Text 24"/>
          <p:cNvSpPr txBox="1"/>
          <p:nvPr/>
        </p:nvSpPr>
        <p:spPr>
          <a:xfrm>
            <a:off x="3886200" y="5413248"/>
            <a:ext cx="752825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คลิกเพื่อเปลี่ยนโหมด ต้องเป็น Manual ตลอดหลักสูตร</a:t>
            </a:r>
            <a:endParaRPr lang="en-US" sz="1250"/>
          </a:p>
        </p:txBody>
      </p:sp>
      <p:sp>
        <p:nvSpPr>
          <p:cNvPr id="27" name="Shape 25"/>
          <p:cNvSpPr/>
          <p:nvPr/>
        </p:nvSpPr>
        <p:spPr>
          <a:xfrm>
            <a:off x="594360" y="5943600"/>
            <a:ext cx="11002975" cy="685800"/>
          </a:xfrm>
          <a:prstGeom prst="roundRect">
            <a:avLst>
              <a:gd name="adj" fmla="val 10667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5528" y="6112764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6204204"/>
            <a:ext cx="164592" cy="16459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252728" y="603504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ในช่องพิมพ์มีข้อความจาง ๆ ว่า ctrl esc to focus or unfocus Claude — ตัวโปรแกรมบอกคีย์ลัดสลับโฟกัสไว้ให้เอง  ·  ส่วนปุ่ม Remote Control ที่แถบล่าง ให้ปล่อยไว้ไม่ต้องเปิด อยู่นอกขอบเขตของหลักสูตรนี้</a:t>
            </a:r>
            <a:endParaRPr lang="en-US" sz="12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2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1188720"/>
            <a:ext cx="4206240" cy="420624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>
                <a:solidFill>
                  <a:srgbClr val="E7C9B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สรุปวันที่ 1</a:t>
            </a:r>
            <a:endParaRPr lang="en-US" sz="1500"/>
          </a:p>
        </p:txBody>
      </p:sp>
      <p:sp>
        <p:nvSpPr>
          <p:cNvPr id="4" name="Text 2"/>
          <p:cNvSpPr txBox="1"/>
          <p:nvPr/>
        </p:nvSpPr>
        <p:spPr>
          <a:xfrm>
            <a:off x="731520" y="2487168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วันนี้เราใช้ครบทั้ง 4 เครื่องมือแล้ว</a:t>
            </a:r>
            <a:endParaRPr lang="en-US" sz="340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 SPEC.md และ README.md  ·  เครื่องพร้อมใช้งาน  ·  มีประวัติ commit  ·  repository ขึ้น GitHub แล้ว  ·  เว็บหน้าแรกเพิ่มและแสดงรายการอุปกรณ์ได้</a:t>
            </a:r>
            <a:endParaRPr lang="en-US" sz="1500"/>
          </a:p>
          <a:p>
            <a:pPr marL="0" indent="0">
              <a:lnSpc>
                <a:spcPct val="130000"/>
              </a:lnSpc>
              <a:buNone/>
            </a:pPr>
            <a:endParaRPr lang="en-US" sz="1500"/>
          </a:p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พรุ่งนี้เช้าเริ่มด้วยการตรวจสภาพเครื่อง 10 นาที กรุณามาตรงเวลาและเปิดเครื่องรอ</a:t>
            </a:r>
            <a:endParaRPr lang="en-US" sz="15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1188720"/>
            <a:ext cx="4206240" cy="420624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>
                <a:solidFill>
                  <a:srgbClr val="E7C9B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วันที่ 2</a:t>
            </a:r>
            <a:endParaRPr lang="en-US" sz="1500"/>
          </a:p>
        </p:txBody>
      </p:sp>
      <p:sp>
        <p:nvSpPr>
          <p:cNvPr id="4" name="Text 2"/>
          <p:cNvSpPr txBox="1"/>
          <p:nvPr/>
        </p:nvSpPr>
        <p:spPr>
          <a:xfrm>
            <a:off x="731520" y="2487168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ทำงานร่วมกันและส่งมอบ</a:t>
            </a:r>
            <a:endParaRPr lang="en-US" sz="340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7–11   ·   09.00 – 16.30 น.</a:t>
            </a:r>
            <a:endParaRPr lang="en-US" sz="1500"/>
          </a:p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เป้าหมายของวันนี้: ได้ URL ของเว็บตัวเองที่เปิดใช้งานได้จริง และมีวิธีทำงานที่เอาไปใช้ต่อได้</a:t>
            </a:r>
            <a:endParaRPr lang="en-US" sz="15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ทบทวน  ·  09.00 – 09.30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ตรวจสภาพเครื่องก่อนเริ่ม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11002975" cy="2286000"/>
          </a:xfrm>
          <a:prstGeom prst="roundRect">
            <a:avLst>
              <a:gd name="adj" fmla="val 3478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64208"/>
            <a:ext cx="10545775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เปิด VS Code &gt; File &gt; Open Recent &gt; it-asset-tracker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แล้วเปิด Terminal ด้วย Ctrl+`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       # ต้องเห็นอย่างน้อย 3 commit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               # ต้องขึ้นว่า working tree clean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-v            # ต้องเห็น URL ของ repository ตัวเอง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                       # เห็น index.html, SPEC.md, README.md, CLAUDE.md</a:t>
            </a:r>
            <a:endParaRPr lang="en-US" sz="1300"/>
          </a:p>
        </p:txBody>
      </p:sp>
      <p:sp>
        <p:nvSpPr>
          <p:cNvPr id="6" name="Text 4"/>
          <p:cNvSpPr txBox="1"/>
          <p:nvPr/>
        </p:nvSpPr>
        <p:spPr>
          <a:xfrm>
            <a:off x="594360" y="374904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คำถามทบทวน — ให้ผู้เรียนตอบเอง</a:t>
            </a:r>
            <a:endParaRPr lang="en-US" sz="1500"/>
          </a:p>
        </p:txBody>
      </p:sp>
      <p:sp>
        <p:nvSpPr>
          <p:cNvPr id="7" name="Shape 5"/>
          <p:cNvSpPr/>
          <p:nvPr/>
        </p:nvSpPr>
        <p:spPr>
          <a:xfrm>
            <a:off x="594360" y="4114800"/>
            <a:ext cx="2545004" cy="1371600"/>
          </a:xfrm>
          <a:prstGeom prst="roundRect">
            <a:avLst>
              <a:gd name="adj" fmla="val 6667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370832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commit คืออะไร</a:t>
            </a:r>
            <a:endParaRPr lang="en-US" sz="1400"/>
          </a:p>
        </p:txBody>
      </p:sp>
      <p:sp>
        <p:nvSpPr>
          <p:cNvPr id="9" name="Text 7"/>
          <p:cNvSpPr txBox="1"/>
          <p:nvPr/>
        </p:nvSpPr>
        <p:spPr>
          <a:xfrm>
            <a:off x="868680" y="4754880"/>
            <a:ext cx="19963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อธิบายให้คนที่ไม่รู้จัก Git ฟัง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3413684" y="4114800"/>
            <a:ext cx="2545004" cy="1371600"/>
          </a:xfrm>
          <a:prstGeom prst="roundRect">
            <a:avLst>
              <a:gd name="adj" fmla="val 6667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88004" y="4370832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commit ต่างจาก push ยังไง</a:t>
            </a:r>
            <a:endParaRPr lang="en-US" sz="1400"/>
          </a:p>
        </p:txBody>
      </p:sp>
      <p:sp>
        <p:nvSpPr>
          <p:cNvPr id="12" name="Text 10"/>
          <p:cNvSpPr txBox="1"/>
          <p:nvPr/>
        </p:nvSpPr>
        <p:spPr>
          <a:xfrm>
            <a:off x="3688004" y="4754880"/>
            <a:ext cx="19963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อันไหนอยู่ในเครื่อง อันไหนขึ้นคลาวด์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6233008" y="4114800"/>
            <a:ext cx="2545004" cy="1371600"/>
          </a:xfrm>
          <a:prstGeom prst="roundRect">
            <a:avLst>
              <a:gd name="adj" fmla="val 6667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4370832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แก้พังแล้วกู้ยังไง</a:t>
            </a:r>
            <a:endParaRPr lang="en-US" sz="1400"/>
          </a:p>
        </p:txBody>
      </p:sp>
      <p:sp>
        <p:nvSpPr>
          <p:cNvPr id="15" name="Text 13"/>
          <p:cNvSpPr txBox="1"/>
          <p:nvPr/>
        </p:nvSpPr>
        <p:spPr>
          <a:xfrm>
            <a:off x="6507328" y="4754880"/>
            <a:ext cx="19963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ถ้ายังไม่ได้ commit ใช้คำสั่งอะไร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9052331" y="4114800"/>
            <a:ext cx="2545004" cy="1371600"/>
          </a:xfrm>
          <a:prstGeom prst="roundRect">
            <a:avLst>
              <a:gd name="adj" fmla="val 6667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651" y="4370832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ก่อนกดรับ diff ดูอะไร</a:t>
            </a:r>
            <a:endParaRPr lang="en-US" sz="1400"/>
          </a:p>
        </p:txBody>
      </p:sp>
      <p:sp>
        <p:nvSpPr>
          <p:cNvPr id="18" name="Text 16"/>
          <p:cNvSpPr txBox="1"/>
          <p:nvPr/>
        </p:nvSpPr>
        <p:spPr>
          <a:xfrm>
            <a:off x="9326651" y="4754880"/>
            <a:ext cx="19963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ตอบให้ครบ 3 อย่าง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594360" y="5669280"/>
            <a:ext cx="11002975" cy="713232"/>
          </a:xfrm>
          <a:prstGeom prst="roundRect">
            <a:avLst>
              <a:gd name="adj" fmla="val 10256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5528" y="5852160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943600"/>
            <a:ext cx="164592" cy="16459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52728" y="576072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กดปุ่ม Session history ในหน้าต่าง Claude Code เพื่อเปิดบทสนทนาของเมื่อวานกลับมาทำต่อ จะได้ไม่ต้องเล่าบริบทใหม่ทั้งหมด</a:t>
            </a:r>
            <a:endParaRPr lang="en-US" sz="12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7  ·  09.30 – 10.30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 branch ทำฟีเจอร์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298448"/>
            <a:ext cx="11002975" cy="731520"/>
          </a:xfrm>
          <a:prstGeom prst="roundRect">
            <a:avLst>
              <a:gd name="adj" fmla="val 12500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9844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บ่ายนี้เราจะเอา main ขึ้นเว็บให้คนทั้งโลกเปิดดู  →  ถ้า main พัง เว็บพังทันที</a:t>
            </a:r>
            <a:endParaRPr lang="en-US" sz="1800"/>
          </a:p>
        </p:txBody>
      </p:sp>
      <p:sp>
        <p:nvSpPr>
          <p:cNvPr id="6" name="Shape 4"/>
          <p:cNvSpPr/>
          <p:nvPr/>
        </p:nvSpPr>
        <p:spPr>
          <a:xfrm>
            <a:off x="960120" y="3429000"/>
            <a:ext cx="9722815" cy="0"/>
          </a:xfrm>
          <a:prstGeom prst="line">
            <a:avLst/>
          </a:prstGeom>
          <a:noFill/>
          <a:ln w="38100">
            <a:solidFill>
              <a:srgbClr val="3A50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326440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3A5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1591056" y="3328416"/>
            <a:ext cx="201168" cy="201168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19856" y="3328416"/>
            <a:ext cx="201168" cy="201168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35056" y="3328416"/>
            <a:ext cx="201168" cy="201168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606040"/>
            <a:ext cx="3657600" cy="0"/>
          </a:xfrm>
          <a:prstGeom prst="line">
            <a:avLst/>
          </a:prstGeom>
          <a:noFill/>
          <a:ln w="38100">
            <a:solidFill>
              <a:srgbClr val="C4623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606040"/>
            <a:ext cx="0" cy="822960"/>
          </a:xfrm>
          <a:prstGeom prst="line">
            <a:avLst/>
          </a:prstGeom>
          <a:noFill/>
          <a:ln w="38100">
            <a:solidFill>
              <a:srgbClr val="C4623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78040" y="2606040"/>
            <a:ext cx="0" cy="822960"/>
          </a:xfrm>
          <a:prstGeom prst="line">
            <a:avLst/>
          </a:prstGeom>
          <a:noFill/>
          <a:ln w="38100">
            <a:solidFill>
              <a:srgbClr val="C4623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7136" y="2505456"/>
            <a:ext cx="201168" cy="20116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80176" y="2505456"/>
            <a:ext cx="201168" cy="20116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20440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46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feature/search</a:t>
            </a:r>
            <a:endParaRPr lang="en-US" sz="1200"/>
          </a:p>
        </p:txBody>
      </p:sp>
      <p:sp>
        <p:nvSpPr>
          <p:cNvPr id="17" name="Text 15"/>
          <p:cNvSpPr txBox="1"/>
          <p:nvPr/>
        </p:nvSpPr>
        <p:spPr>
          <a:xfrm>
            <a:off x="260604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>
                <a:solidFill>
                  <a:srgbClr val="6B7A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แตก branch ออกมาทำงาน</a:t>
            </a:r>
            <a:endParaRPr lang="en-US" sz="1150"/>
          </a:p>
        </p:txBody>
      </p:sp>
      <p:sp>
        <p:nvSpPr>
          <p:cNvPr id="18" name="Text 16"/>
          <p:cNvSpPr txBox="1"/>
          <p:nvPr/>
        </p:nvSpPr>
        <p:spPr>
          <a:xfrm>
            <a:off x="635508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>
                <a:solidFill>
                  <a:srgbClr val="6B7A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merge กลับเข้า main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594360" y="4069080"/>
            <a:ext cx="11002975" cy="1737360"/>
          </a:xfrm>
          <a:prstGeom prst="roundRect">
            <a:avLst>
              <a:gd name="adj" fmla="val 4211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70248"/>
            <a:ext cx="10545775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feature/search   # สร้าง branch ใหม่แล้วย้ายไปที่นั่นเลย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  &amp;&amp;  git commit -m "เพิ่มช่องค้นหาและตัวกรอง"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feature/search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                # กลับมาที่ main ก่อน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feature/search       # ดึงงานจาก branch เข้ามารวม</a:t>
            </a:r>
            <a:endParaRPr lang="en-US" sz="1250"/>
          </a:p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 feature/search   # ลบ branch ที่รวมเสร็จแล้ว</a:t>
            </a:r>
            <a:endParaRPr lang="en-US" sz="1250"/>
          </a:p>
        </p:txBody>
      </p:sp>
      <p:sp>
        <p:nvSpPr>
          <p:cNvPr id="21" name="Shape 19"/>
          <p:cNvSpPr/>
          <p:nvPr/>
        </p:nvSpPr>
        <p:spPr>
          <a:xfrm>
            <a:off x="594360" y="5989320"/>
            <a:ext cx="11002975" cy="548640"/>
          </a:xfrm>
          <a:prstGeom prst="roundRect">
            <a:avLst>
              <a:gd name="adj" fmla="val 13333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" y="6089904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6181344"/>
            <a:ext cx="164592" cy="16459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252728" y="608076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สร้างนิสัย: รัน git branch ก่อนเริ่มงานทุกครั้ง เพื่อไม่ให้แก้ไฟล์ผิด branch โดยไม่รู้ตัว</a:t>
            </a:r>
            <a:endParaRPr lang="en-US" sz="12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8  ·  10.45 – 12.00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แบบใช้งานจริง — 4 ทักษะ</a:t>
            </a:r>
            <a:endParaRPr lang="en-US" sz="3000"/>
          </a:p>
        </p:txBody>
      </p:sp>
      <p:sp>
        <p:nvSpPr>
          <p:cNvPr id="4" name="Text 2"/>
          <p:cNvSpPr txBox="1"/>
          <p:nvPr/>
        </p:nvSpPr>
        <p:spPr>
          <a:xfrm>
            <a:off x="594360" y="12984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คาบนี้คือหัวใจของหลักสูตร เป็นทักษะที่เอาไปใช้กับงานประจำได้มากที่สุด</a:t>
            </a:r>
            <a:endParaRPr lang="en-US" sz="150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2545004" cy="2377440"/>
          </a:xfrm>
          <a:prstGeom prst="roundRect">
            <a:avLst>
              <a:gd name="adj" fmla="val 3846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221992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279806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1. วางแผนก่อนลงมือ</a:t>
            </a:r>
            <a:endParaRPr lang="en-US" sz="1600"/>
          </a:p>
        </p:txBody>
      </p:sp>
      <p:sp>
        <p:nvSpPr>
          <p:cNvPr id="9" name="Text 6"/>
          <p:cNvSpPr txBox="1"/>
          <p:nvPr/>
        </p:nvSpPr>
        <p:spPr>
          <a:xfrm>
            <a:off x="868680" y="3182112"/>
            <a:ext cx="19963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สลับเป็นโหมด Plan</a:t>
            </a:r>
            <a:endParaRPr lang="en-US" sz="1200"/>
          </a:p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อธิบายแผนก่อน VS Code เปิดแผนเป็นเอกสารให้คอมเมนต์แทรกได้</a:t>
            </a:r>
            <a:endParaRPr lang="en-US" sz="1200"/>
          </a:p>
        </p:txBody>
      </p:sp>
      <p:sp>
        <p:nvSpPr>
          <p:cNvPr id="10" name="Shape 7"/>
          <p:cNvSpPr/>
          <p:nvPr/>
        </p:nvSpPr>
        <p:spPr>
          <a:xfrm>
            <a:off x="3413684" y="1828800"/>
            <a:ext cx="2545004" cy="2377440"/>
          </a:xfrm>
          <a:prstGeom prst="roundRect">
            <a:avLst>
              <a:gd name="adj" fmla="val 3846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88004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164" y="222199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88004" y="279806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 ส่ง error ให้วิเคราะห์</a:t>
            </a:r>
            <a:endParaRPr lang="en-US" sz="1600"/>
          </a:p>
        </p:txBody>
      </p:sp>
      <p:sp>
        <p:nvSpPr>
          <p:cNvPr id="14" name="Text 10"/>
          <p:cNvSpPr txBox="1"/>
          <p:nvPr/>
        </p:nvSpPr>
        <p:spPr>
          <a:xfrm>
            <a:off x="3688004" y="3182112"/>
            <a:ext cx="19963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รายงานปัญหาให้ครบ 5 ส่วน อย่าบอกแค่ว่า “ไม่ได้” หรือ “พัง”</a:t>
            </a:r>
            <a:endParaRPr lang="en-US" sz="1200"/>
          </a:p>
        </p:txBody>
      </p:sp>
      <p:sp>
        <p:nvSpPr>
          <p:cNvPr id="15" name="Shape 11"/>
          <p:cNvSpPr/>
          <p:nvPr/>
        </p:nvSpPr>
        <p:spPr>
          <a:xfrm>
            <a:off x="6233008" y="1828800"/>
            <a:ext cx="2545004" cy="2377440"/>
          </a:xfrm>
          <a:prstGeom prst="roundRect">
            <a:avLst>
              <a:gd name="adj" fmla="val 3846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07328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222199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7328" y="279806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3. สั่งแก้เฉพาะจุด</a:t>
            </a:r>
            <a:endParaRPr lang="en-US" sz="1600"/>
          </a:p>
        </p:txBody>
      </p:sp>
      <p:sp>
        <p:nvSpPr>
          <p:cNvPr id="19" name="Text 14"/>
          <p:cNvSpPr txBox="1"/>
          <p:nvPr/>
        </p:nvSpPr>
        <p:spPr>
          <a:xfrm>
            <a:off x="6507328" y="3182112"/>
            <a:ext cx="19963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ระบุไฟล์และส่วนที่ต้องแก้ พร้อมสั่งว่าห้ามแตะส่วนอื่น</a:t>
            </a:r>
            <a:endParaRPr lang="en-US" sz="1200"/>
          </a:p>
        </p:txBody>
      </p:sp>
      <p:sp>
        <p:nvSpPr>
          <p:cNvPr id="20" name="Shape 15"/>
          <p:cNvSpPr/>
          <p:nvPr/>
        </p:nvSpPr>
        <p:spPr>
          <a:xfrm>
            <a:off x="9052331" y="1828800"/>
            <a:ext cx="2545004" cy="2377440"/>
          </a:xfrm>
          <a:prstGeom prst="roundRect">
            <a:avLst>
              <a:gd name="adj" fmla="val 3846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26651" y="20848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3811" y="222199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326651" y="279806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4. ให้อธิบายโค้ด</a:t>
            </a:r>
            <a:endParaRPr lang="en-US" sz="1600"/>
          </a:p>
        </p:txBody>
      </p:sp>
      <p:sp>
        <p:nvSpPr>
          <p:cNvPr id="24" name="Text 18"/>
          <p:cNvSpPr txBox="1"/>
          <p:nvPr/>
        </p:nvSpPr>
        <p:spPr>
          <a:xfrm>
            <a:off x="9326651" y="3182112"/>
            <a:ext cx="19963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ถ้าอธิบายให้หัวหน้าฟังไม่ได้ ห้ามส่งมอบ</a:t>
            </a:r>
            <a:endParaRPr lang="en-US" sz="1200"/>
          </a:p>
        </p:txBody>
      </p:sp>
      <p:sp>
        <p:nvSpPr>
          <p:cNvPr id="25" name="Text 19"/>
          <p:cNvSpPr txBox="1"/>
          <p:nvPr/>
        </p:nvSpPr>
        <p:spPr>
          <a:xfrm>
            <a:off x="594360" y="443484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สิ่งที่โปรเจคจะได้เพิ่มในคาบนี้</a:t>
            </a:r>
            <a:endParaRPr lang="en-US" sz="1500"/>
          </a:p>
        </p:txBody>
      </p:sp>
      <p:sp>
        <p:nvSpPr>
          <p:cNvPr id="26" name="Shape 20"/>
          <p:cNvSpPr/>
          <p:nvPr/>
        </p:nvSpPr>
        <p:spPr>
          <a:xfrm>
            <a:off x="594360" y="4800600"/>
            <a:ext cx="3411626" cy="1097280"/>
          </a:xfrm>
          <a:prstGeom prst="roundRect">
            <a:avLst>
              <a:gd name="adj" fmla="val 8333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0664" y="4983480"/>
            <a:ext cx="3119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ฟีเจอร์แก้ไข / ลบ</a:t>
            </a:r>
            <a:endParaRPr lang="en-US" sz="1450"/>
          </a:p>
        </p:txBody>
      </p:sp>
      <p:sp>
        <p:nvSpPr>
          <p:cNvPr id="28" name="Text 22"/>
          <p:cNvSpPr txBox="1"/>
          <p:nvPr/>
        </p:nvSpPr>
        <p:spPr>
          <a:xfrm>
            <a:off x="740664" y="5385816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บน branch feature/edit-delete</a:t>
            </a:r>
            <a:endParaRPr lang="en-US" sz="1150"/>
          </a:p>
        </p:txBody>
      </p:sp>
      <p:sp>
        <p:nvSpPr>
          <p:cNvPr id="29" name="Shape 23"/>
          <p:cNvSpPr/>
          <p:nvPr/>
        </p:nvSpPr>
        <p:spPr>
          <a:xfrm>
            <a:off x="4060850" y="521208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390034" y="4800600"/>
            <a:ext cx="3411626" cy="1097280"/>
          </a:xfrm>
          <a:prstGeom prst="roundRect">
            <a:avLst>
              <a:gd name="adj" fmla="val 8333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4536338" y="4983480"/>
            <a:ext cx="3119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ส่งออกไฟล์ CSV</a:t>
            </a:r>
            <a:endParaRPr lang="en-US" sz="1450"/>
          </a:p>
        </p:txBody>
      </p:sp>
      <p:sp>
        <p:nvSpPr>
          <p:cNvPr id="32" name="Text 26"/>
          <p:cNvSpPr txBox="1"/>
          <p:nvPr/>
        </p:nvSpPr>
        <p:spPr>
          <a:xfrm>
            <a:off x="4536338" y="5385816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บน branch feature/export-csv</a:t>
            </a:r>
            <a:endParaRPr lang="en-US" sz="1150"/>
          </a:p>
        </p:txBody>
      </p:sp>
      <p:sp>
        <p:nvSpPr>
          <p:cNvPr id="33" name="Shape 27"/>
          <p:cNvSpPr/>
          <p:nvPr/>
        </p:nvSpPr>
        <p:spPr>
          <a:xfrm>
            <a:off x="7856525" y="521208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8185709" y="4800600"/>
            <a:ext cx="3411626" cy="1097280"/>
          </a:xfrm>
          <a:prstGeom prst="roundRect">
            <a:avLst>
              <a:gd name="adj" fmla="val 8333"/>
            </a:avLst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8332013" y="4983480"/>
            <a:ext cx="3119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แก้บั๊กภาษาไทยเพี้ยน</a:t>
            </a:r>
            <a:endParaRPr lang="en-US" sz="1450"/>
          </a:p>
        </p:txBody>
      </p:sp>
      <p:sp>
        <p:nvSpPr>
          <p:cNvPr id="36" name="Text 30"/>
          <p:cNvSpPr txBox="1"/>
          <p:nvPr/>
        </p:nvSpPr>
        <p:spPr>
          <a:xfrm>
            <a:off x="8332013" y="5385816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ฝึกรายงานปัญหาด้วยตัวเอง</a:t>
            </a:r>
            <a:endParaRPr lang="en-US" sz="11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8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สูตรรายงานปัญหา 5 ส่วน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499616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9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/>
          </a:p>
        </p:txBody>
      </p:sp>
      <p:sp>
        <p:nvSpPr>
          <p:cNvPr id="6" name="Text 4"/>
          <p:cNvSpPr txBox="1"/>
          <p:nvPr/>
        </p:nvSpPr>
        <p:spPr>
          <a:xfrm>
            <a:off x="1197864" y="1463040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ทำอะไร</a:t>
            </a:r>
            <a:endParaRPr lang="en-US" sz="1450"/>
          </a:p>
        </p:txBody>
      </p:sp>
      <p:sp>
        <p:nvSpPr>
          <p:cNvPr id="7" name="Text 5"/>
          <p:cNvSpPr txBox="1"/>
          <p:nvPr/>
        </p:nvSpPr>
        <p:spPr>
          <a:xfrm>
            <a:off x="1197864" y="1746504"/>
            <a:ext cx="4882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ขั้นตอนที่ทำก่อนเกิดปัญหา ละเอียดพอที่คนอื่นทำตามแล้วเจอเหมือนกัน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/>
          </a:p>
        </p:txBody>
      </p:sp>
      <p:sp>
        <p:nvSpPr>
          <p:cNvPr id="10" name="Text 8"/>
          <p:cNvSpPr txBox="1"/>
          <p:nvPr/>
        </p:nvSpPr>
        <p:spPr>
          <a:xfrm>
            <a:off x="1197864" y="2176272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คาดว่าจะได้</a:t>
            </a:r>
            <a:endParaRPr lang="en-US" sz="1450"/>
          </a:p>
        </p:txBody>
      </p:sp>
      <p:sp>
        <p:nvSpPr>
          <p:cNvPr id="11" name="Text 9"/>
          <p:cNvSpPr txBox="1"/>
          <p:nvPr/>
        </p:nvSpPr>
        <p:spPr>
          <a:xfrm>
            <a:off x="1197864" y="2459736"/>
            <a:ext cx="4882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ผลลัพธ์ที่ควรจะเป็น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594360" y="2926080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/>
          </a:p>
        </p:txBody>
      </p:sp>
      <p:sp>
        <p:nvSpPr>
          <p:cNvPr id="14" name="Text 12"/>
          <p:cNvSpPr txBox="1"/>
          <p:nvPr/>
        </p:nvSpPr>
        <p:spPr>
          <a:xfrm>
            <a:off x="1197864" y="2889504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ได้จริง</a:t>
            </a:r>
            <a:endParaRPr lang="en-US" sz="1450"/>
          </a:p>
        </p:txBody>
      </p:sp>
      <p:sp>
        <p:nvSpPr>
          <p:cNvPr id="15" name="Text 13"/>
          <p:cNvSpPr txBox="1"/>
          <p:nvPr/>
        </p:nvSpPr>
        <p:spPr>
          <a:xfrm>
            <a:off x="1197864" y="3172968"/>
            <a:ext cx="4882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สิ่งที่เกิดขึ้นจริง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594360" y="3639312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/>
          </a:p>
        </p:txBody>
      </p:sp>
      <p:sp>
        <p:nvSpPr>
          <p:cNvPr id="18" name="Text 16"/>
          <p:cNvSpPr txBox="1"/>
          <p:nvPr/>
        </p:nvSpPr>
        <p:spPr>
          <a:xfrm>
            <a:off x="1197864" y="360273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ข้อความ error</a:t>
            </a:r>
            <a:endParaRPr lang="en-US" sz="1450"/>
          </a:p>
        </p:txBody>
      </p:sp>
      <p:sp>
        <p:nvSpPr>
          <p:cNvPr id="19" name="Text 17"/>
          <p:cNvSpPr txBox="1"/>
          <p:nvPr/>
        </p:nvSpPr>
        <p:spPr>
          <a:xfrm>
            <a:off x="1197864" y="3886200"/>
            <a:ext cx="4882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คัดลอกมาทั้งหมด ไม่ตัดทอน ไม่เล่าเป็นคำพูด</a:t>
            </a:r>
            <a:endParaRPr lang="en-US" sz="1250"/>
          </a:p>
        </p:txBody>
      </p:sp>
      <p:sp>
        <p:nvSpPr>
          <p:cNvPr id="20" name="Shape 18"/>
          <p:cNvSpPr/>
          <p:nvPr/>
        </p:nvSpPr>
        <p:spPr>
          <a:xfrm>
            <a:off x="594360" y="4352544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352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300"/>
          </a:p>
        </p:txBody>
      </p:sp>
      <p:sp>
        <p:nvSpPr>
          <p:cNvPr id="22" name="Text 20"/>
          <p:cNvSpPr txBox="1"/>
          <p:nvPr/>
        </p:nvSpPr>
        <p:spPr>
          <a:xfrm>
            <a:off x="1197864" y="43159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บริบท</a:t>
            </a:r>
            <a:endParaRPr lang="en-US" sz="1450"/>
          </a:p>
        </p:txBody>
      </p:sp>
      <p:sp>
        <p:nvSpPr>
          <p:cNvPr id="23" name="Text 21"/>
          <p:cNvSpPr txBox="1"/>
          <p:nvPr/>
        </p:nvSpPr>
        <p:spPr>
          <a:xfrm>
            <a:off x="1197864" y="4599432"/>
            <a:ext cx="4882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ไฟล์ที่เกี่ยวข้อง เบราว์เซอร์ที่ใช้ และสิ่งที่เพิ่งเปลี่ยนไปล่าสุด</a:t>
            </a:r>
            <a:endParaRPr lang="en-US" sz="1250"/>
          </a:p>
        </p:txBody>
      </p:sp>
      <p:sp>
        <p:nvSpPr>
          <p:cNvPr id="24" name="Shape 22"/>
          <p:cNvSpPr/>
          <p:nvPr/>
        </p:nvSpPr>
        <p:spPr>
          <a:xfrm>
            <a:off x="6355080" y="1463040"/>
            <a:ext cx="5242255" cy="2825496"/>
          </a:xfrm>
          <a:prstGeom prst="roundRect">
            <a:avLst>
              <a:gd name="adj" fmla="val 3236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11112" y="1700784"/>
            <a:ext cx="384048" cy="38404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1801368"/>
            <a:ext cx="182880" cy="1828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7086600" y="1719072"/>
            <a:ext cx="4236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ตัวอย่างจริงที่จะเจอในคาบนี้</a:t>
            </a:r>
            <a:endParaRPr lang="en-US" sz="1200"/>
          </a:p>
        </p:txBody>
      </p:sp>
      <p:sp>
        <p:nvSpPr>
          <p:cNvPr id="28" name="Text 25"/>
          <p:cNvSpPr txBox="1"/>
          <p:nvPr/>
        </p:nvSpPr>
        <p:spPr>
          <a:xfrm>
            <a:off x="7086600" y="2066544"/>
            <a:ext cx="4236415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2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ทำอะไร: กดปุ่มส่งออก CSV แล้วเปิดไฟล์ด้วย Excel</a:t>
            </a:r>
            <a:endParaRPr lang="en-US" sz="1200"/>
          </a:p>
          <a:p>
            <a:pPr marL="0" indent="0">
              <a:lnSpc>
                <a:spcPct val="114000"/>
              </a:lnSpc>
              <a:buNone/>
            </a:pPr>
            <a:r>
              <a:rPr lang="en-US" sz="12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คาดว่าจะได้: ตารางที่อ่านภาษาไทยได้ปกติ</a:t>
            </a:r>
            <a:endParaRPr lang="en-US" sz="1200"/>
          </a:p>
          <a:p>
            <a:pPr marL="0" indent="0">
              <a:lnSpc>
                <a:spcPct val="114000"/>
              </a:lnSpc>
              <a:buNone/>
            </a:pPr>
            <a:r>
              <a:rPr lang="en-US" sz="12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ได้จริง: ภาษาไทยกลายเป็นตัวอักษรอ่านไม่ออก</a:t>
            </a:r>
            <a:endParaRPr lang="en-US" sz="1200"/>
          </a:p>
          <a:p>
            <a:pPr marL="0" indent="0">
              <a:lnSpc>
                <a:spcPct val="114000"/>
              </a:lnSpc>
              <a:buNone/>
            </a:pPr>
            <a:r>
              <a:rPr lang="en-US" sz="12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 แต่เปิดด้วย Notepad หรือ Google Sheets อ่านได้ปกติ</a:t>
            </a:r>
            <a:endParaRPr lang="en-US" sz="1200"/>
          </a:p>
          <a:p>
            <a:pPr marL="0" indent="0">
              <a:lnSpc>
                <a:spcPct val="114000"/>
              </a:lnSpc>
              <a:buNone/>
            </a:pPr>
            <a:r>
              <a:rPr lang="en-US" sz="12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ข้อความ error: ไม่มี ไม่ขึ้น error ใด ๆ</a:t>
            </a:r>
            <a:endParaRPr lang="en-US" sz="1200"/>
          </a:p>
          <a:p>
            <a:pPr marL="0" indent="0">
              <a:lnSpc>
                <a:spcPct val="114000"/>
              </a:lnSpc>
              <a:buNone/>
            </a:pPr>
            <a:r>
              <a:rPr lang="en-US" sz="12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บริบท: ไฟล์ @index.html ส่วนสร้างไฟล์ CSV, Excel บน Windows</a:t>
            </a:r>
            <a:endParaRPr lang="en-US" sz="1200"/>
          </a:p>
          <a:p>
            <a:pPr marL="0" indent="0">
              <a:lnSpc>
                <a:spcPct val="114000"/>
              </a:lnSpc>
              <a:buNone/>
            </a:pPr>
            <a:r>
              <a:rPr lang="en-US" sz="12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endParaRPr lang="en-US" sz="1200"/>
          </a:p>
          <a:p>
            <a:pPr marL="0" indent="0">
              <a:lnSpc>
                <a:spcPct val="114000"/>
              </a:lnSpc>
              <a:buNone/>
            </a:pPr>
            <a:r>
              <a:rPr lang="en-US" sz="120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ช่วยวิเคราะห์สาเหตุ บอกวิธีแก้ก่อน แล้วรอผมอนุมัติ</a:t>
            </a:r>
            <a:endParaRPr lang="en-US" sz="1200"/>
          </a:p>
        </p:txBody>
      </p:sp>
      <p:sp>
        <p:nvSpPr>
          <p:cNvPr id="29" name="Shape 26"/>
          <p:cNvSpPr/>
          <p:nvPr/>
        </p:nvSpPr>
        <p:spPr>
          <a:xfrm>
            <a:off x="594360" y="5212080"/>
            <a:ext cx="11002975" cy="777240"/>
          </a:xfrm>
          <a:prstGeom prst="roundRect">
            <a:avLst>
              <a:gd name="adj" fmla="val 9412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5528" y="5426964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5518404"/>
            <a:ext cx="164592" cy="16459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252728" y="530352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ทางลัดใน VS Code: พิมพ์ @ ตามด้วยชื่อไฟล์เพื่ออ้างถึงไฟล์โดยตรง และเลือกโค้ดส่วนที่สงสัยไว้ก่อนถาม Claude จะเห็นให้อัตโนมัติ ไม่ต้องคัดลอกมาวาง</a:t>
            </a:r>
            <a:endParaRPr lang="en-US" sz="1250"/>
          </a:p>
        </p:txBody>
      </p:sp>
      <p:sp>
        <p:nvSpPr>
          <p:cNvPr id="33" name="Shape 29"/>
          <p:cNvSpPr/>
          <p:nvPr/>
        </p:nvSpPr>
        <p:spPr>
          <a:xfrm>
            <a:off x="594360" y="6080760"/>
            <a:ext cx="11002975" cy="621792"/>
          </a:xfrm>
          <a:prstGeom prst="roundRect">
            <a:avLst>
              <a:gd name="adj" fmla="val 11765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95528" y="6217920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6309360"/>
            <a:ext cx="164592" cy="16459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252728" y="617220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ทักษะนี้ติดตัวไปใช้กับเพื่อนร่วมงานและผู้ขายระบบได้ด้วย ไม่ใช่แค่กับ AI</a:t>
            </a:r>
            <a:endParaRPr lang="en-US" sz="12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8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เมื่อแก้แล้วพังกว่าเดิม — ย้อนกลับได้ 2 ชั้น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318608" cy="3200400"/>
          </a:xfrm>
          <a:prstGeom prst="roundRect">
            <a:avLst>
              <a:gd name="adj" fmla="val 2857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1051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9476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52374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ชั้นที่ 1 — ปุ่ม rewind ในหน้าต่างสนทนา</a:t>
            </a:r>
            <a:endParaRPr lang="en-US" sz="1500"/>
          </a:p>
        </p:txBody>
      </p:sp>
      <p:sp>
        <p:nvSpPr>
          <p:cNvPr id="8" name="Text 5"/>
          <p:cNvSpPr txBox="1"/>
          <p:nvPr/>
        </p:nvSpPr>
        <p:spPr>
          <a:xfrm>
            <a:off x="868680" y="2907792"/>
            <a:ext cx="476996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เอาเมาส์วางบนข้อความที่เราเคยพิมพ์ไว้ก่อนหน้า จะมีปุ่มย้อนกลับให้เลือก 3 แบบ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แตกบทสนทนาจากจุดนี้ (ไฟล์ยังเป็นปัจจุบัน)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ย้อนโค้ดกลับมาจุดนี้ (บทสนทนายังอยู่ครบ)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ย้อนทั้งบทสนทนาและโค้ด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ใช้เมื่อ: แก้ผิดทางในรอบที่กำลังทำอยู่</a:t>
            </a:r>
            <a:endParaRPr lang="en-US" sz="125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18608" cy="3200400"/>
          </a:xfrm>
          <a:prstGeom prst="roundRect">
            <a:avLst>
              <a:gd name="adj" fmla="val 2857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53048" y="1810512"/>
            <a:ext cx="566928" cy="566928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208" y="19476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53048" y="252374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ชั้นที่ 2 — Git</a:t>
            </a:r>
            <a:endParaRPr lang="en-US" sz="1500"/>
          </a:p>
        </p:txBody>
      </p:sp>
      <p:sp>
        <p:nvSpPr>
          <p:cNvPr id="13" name="Text 9"/>
          <p:cNvSpPr txBox="1"/>
          <p:nvPr/>
        </p:nvSpPr>
        <p:spPr>
          <a:xfrm>
            <a:off x="6553048" y="2907792"/>
            <a:ext cx="476996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restore &lt;ไฟล์&gt;  กู้กลับเป็นเหมือน commit ล่าสุด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log --oneline  ดูว่ามีจุดไหนให้ย้อนกลับบ้าง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ใช้เมื่อ: อยากกลับไปจุดที่ commit ไว้ และเป็นประวัติถาวรที่แชร์ให้คนอื่นได้</a:t>
            </a:r>
            <a:endParaRPr lang="en-US" sz="1250"/>
          </a:p>
        </p:txBody>
      </p:sp>
      <p:sp>
        <p:nvSpPr>
          <p:cNvPr id="14" name="Shape 10"/>
          <p:cNvSpPr/>
          <p:nvPr/>
        </p:nvSpPr>
        <p:spPr>
          <a:xfrm>
            <a:off x="594360" y="4937760"/>
            <a:ext cx="11002975" cy="685800"/>
          </a:xfrm>
          <a:prstGeom prst="roundRect">
            <a:avLst>
              <a:gd name="adj" fmla="val 10667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95528" y="5106924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198364"/>
            <a:ext cx="164592" cy="16459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52728" y="502920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ทั้งสองอย่างใช้คู่กัน ไม่ได้แทนกัน — Git ยังคงเป็นตัวหลัก เพราะเก็บประวัติถาวรและแชร์ให้คนอื่นได้</a:t>
            </a:r>
            <a:endParaRPr lang="en-US" sz="1250"/>
          </a:p>
        </p:txBody>
      </p:sp>
      <p:sp>
        <p:nvSpPr>
          <p:cNvPr id="18" name="Shape 13"/>
          <p:cNvSpPr/>
          <p:nvPr/>
        </p:nvSpPr>
        <p:spPr>
          <a:xfrm>
            <a:off x="594360" y="5760720"/>
            <a:ext cx="11002975" cy="685800"/>
          </a:xfrm>
          <a:prstGeom prst="roundRect">
            <a:avLst>
              <a:gd name="adj" fmla="val 10667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95528" y="5929884"/>
            <a:ext cx="347472" cy="347472"/>
          </a:xfrm>
          <a:prstGeom prst="ellipse">
            <a:avLst/>
          </a:prstGeom>
          <a:solidFill>
            <a:srgbClr val="A33A3A"/>
          </a:solidFill>
          <a:ln w="12700">
            <a:solidFill>
              <a:srgbClr val="A33A3A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6021324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52728" y="585216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กติกาห้อง: 1 คำสั่ง = 1 ฟีเจอร์  ·  ทดสอบในเบราว์เซอร์ทุกครั้งก่อน commit ไม่มีข้อยกเว้น</a:t>
            </a:r>
            <a:endParaRPr lang="en-US" sz="12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9  ·  13.00 – 14.15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Pull Request และการรีวิว</a:t>
            </a:r>
            <a:endParaRPr lang="en-US" sz="300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“merge เองก็ได้ ทำไมต้องเปิด PR”</a:t>
            </a:r>
            <a:endParaRPr lang="en-US" sz="1700"/>
          </a:p>
        </p:txBody>
      </p:sp>
      <p:sp>
        <p:nvSpPr>
          <p:cNvPr id="5" name="Shape 3"/>
          <p:cNvSpPr/>
          <p:nvPr/>
        </p:nvSpPr>
        <p:spPr>
          <a:xfrm>
            <a:off x="594360" y="1737360"/>
            <a:ext cx="3484778" cy="1097280"/>
          </a:xfrm>
          <a:prstGeom prst="roundRect">
            <a:avLst>
              <a:gd name="adj" fmla="val 8333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993392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มีคนเห็นก่อนของขึ้นจริง</a:t>
            </a:r>
            <a:endParaRPr lang="en-US" sz="140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จับปัญหาได้ก่อนถึงมือผู้ใช้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1097280"/>
          </a:xfrm>
          <a:prstGeom prst="roundRect">
            <a:avLst>
              <a:gd name="adj" fmla="val 8333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27778" y="1993392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เป็นบันทึกว่าทำไมถึงเปลี่ยน</a:t>
            </a:r>
            <a:endParaRPr lang="en-US" sz="1400"/>
          </a:p>
        </p:txBody>
      </p:sp>
      <p:sp>
        <p:nvSpPr>
          <p:cNvPr id="10" name="Text 8"/>
          <p:cNvSpPr txBox="1"/>
          <p:nvPr/>
        </p:nvSpPr>
        <p:spPr>
          <a:xfrm>
            <a:off x="4627778" y="237744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ย้อนอ่านได้ในอีก 6 เดือน</a:t>
            </a:r>
            <a:endParaRPr lang="en-US" sz="1200"/>
          </a:p>
        </p:txBody>
      </p:sp>
      <p:sp>
        <p:nvSpPr>
          <p:cNvPr id="11" name="Shape 9"/>
          <p:cNvSpPr/>
          <p:nvPr/>
        </p:nvSpPr>
        <p:spPr>
          <a:xfrm>
            <a:off x="8112557" y="1737360"/>
            <a:ext cx="3484778" cy="1097280"/>
          </a:xfrm>
          <a:prstGeom prst="roundRect">
            <a:avLst>
              <a:gd name="adj" fmla="val 8333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86877" y="1993392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มีที่ให้คุยกันโดยไม่ต้องนัดประชุม</a:t>
            </a:r>
            <a:endParaRPr lang="en-US" sz="1400"/>
          </a:p>
        </p:txBody>
      </p:sp>
      <p:sp>
        <p:nvSpPr>
          <p:cNvPr id="13" name="Text 11"/>
          <p:cNvSpPr txBox="1"/>
          <p:nvPr/>
        </p:nvSpPr>
        <p:spPr>
          <a:xfrm>
            <a:off x="8386877" y="237744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คอมเมนต์ตรงบรรทัดที่สงสัยได้เลย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94360" y="297180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0664" y="3154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push branch</a:t>
            </a:r>
            <a:endParaRPr lang="en-US" sz="1450"/>
          </a:p>
        </p:txBody>
      </p:sp>
      <p:sp>
        <p:nvSpPr>
          <p:cNvPr id="16" name="Text 14"/>
          <p:cNvSpPr txBox="1"/>
          <p:nvPr/>
        </p:nvSpPr>
        <p:spPr>
          <a:xfrm>
            <a:off x="740664" y="355701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 branch ขึ้น GitHub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2542581" y="352044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1765" y="297180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18069" y="3154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PR</a:t>
            </a:r>
            <a:endParaRPr lang="en-US" sz="1450"/>
          </a:p>
        </p:txBody>
      </p:sp>
      <p:sp>
        <p:nvSpPr>
          <p:cNvPr id="20" name="Text 18"/>
          <p:cNvSpPr txBox="1"/>
          <p:nvPr/>
        </p:nvSpPr>
        <p:spPr>
          <a:xfrm>
            <a:off x="3018069" y="355701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ตรวจให้เป็น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base: main ← compare: feature</a:t>
            </a:r>
            <a:endParaRPr lang="en-US" sz="1150"/>
          </a:p>
        </p:txBody>
      </p:sp>
      <p:sp>
        <p:nvSpPr>
          <p:cNvPr id="21" name="Shape 19"/>
          <p:cNvSpPr/>
          <p:nvPr/>
        </p:nvSpPr>
        <p:spPr>
          <a:xfrm>
            <a:off x="4819985" y="352044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49169" y="297180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95473" y="3154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รีวิว</a:t>
            </a:r>
            <a:endParaRPr lang="en-US" sz="1450"/>
          </a:p>
        </p:txBody>
      </p:sp>
      <p:sp>
        <p:nvSpPr>
          <p:cNvPr id="24" name="Text 22"/>
          <p:cNvSpPr txBox="1"/>
          <p:nvPr/>
        </p:nvSpPr>
        <p:spPr>
          <a:xfrm>
            <a:off x="5295473" y="355701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อ่าน diff</a:t>
            </a:r>
            <a:endParaRPr lang="en-US" sz="115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แล้วคอมเมนต์</a:t>
            </a:r>
            <a:endParaRPr lang="en-US" sz="1150"/>
          </a:p>
        </p:txBody>
      </p:sp>
      <p:sp>
        <p:nvSpPr>
          <p:cNvPr id="25" name="Shape 23"/>
          <p:cNvSpPr/>
          <p:nvPr/>
        </p:nvSpPr>
        <p:spPr>
          <a:xfrm>
            <a:off x="7097390" y="352044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26574" y="297180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72878" y="3154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merge</a:t>
            </a:r>
            <a:endParaRPr lang="en-US" sz="1450"/>
          </a:p>
        </p:txBody>
      </p:sp>
      <p:sp>
        <p:nvSpPr>
          <p:cNvPr id="28" name="Text 26"/>
          <p:cNvSpPr txBox="1"/>
          <p:nvPr/>
        </p:nvSpPr>
        <p:spPr>
          <a:xfrm>
            <a:off x="7572878" y="355701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รวมเข้า main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9374795" y="3520440"/>
            <a:ext cx="274320" cy="274320"/>
          </a:xfrm>
          <a:prstGeom prst="chevron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03979" y="2971800"/>
            <a:ext cx="1893357" cy="1371600"/>
          </a:xfrm>
          <a:prstGeom prst="roundRect">
            <a:avLst>
              <a:gd name="adj" fmla="val 6667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50283" y="3154680"/>
            <a:ext cx="16007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pull + ลบ branch</a:t>
            </a:r>
            <a:endParaRPr lang="en-US" sz="1450"/>
          </a:p>
        </p:txBody>
      </p:sp>
      <p:sp>
        <p:nvSpPr>
          <p:cNvPr id="32" name="Text 30"/>
          <p:cNvSpPr txBox="1"/>
          <p:nvPr/>
        </p:nvSpPr>
        <p:spPr>
          <a:xfrm>
            <a:off x="9850283" y="3557016"/>
            <a:ext cx="16007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ดึงลงเครื่องทันที</a:t>
            </a:r>
            <a:endParaRPr lang="en-US" sz="1150"/>
          </a:p>
        </p:txBody>
      </p:sp>
      <p:sp>
        <p:nvSpPr>
          <p:cNvPr id="33" name="Text 31"/>
          <p:cNvSpPr txBox="1"/>
          <p:nvPr/>
        </p:nvSpPr>
        <p:spPr>
          <a:xfrm>
            <a:off x="594360" y="452628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กรอบคำถามสำหรับรีวิวงานเพื่อน 3 ข้อ</a:t>
            </a:r>
            <a:endParaRPr lang="en-US" sz="1500"/>
          </a:p>
        </p:txBody>
      </p:sp>
      <p:sp>
        <p:nvSpPr>
          <p:cNvPr id="34" name="Shape 32"/>
          <p:cNvSpPr/>
          <p:nvPr/>
        </p:nvSpPr>
        <p:spPr>
          <a:xfrm>
            <a:off x="594360" y="4928616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4928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/>
          </a:p>
        </p:txBody>
      </p:sp>
      <p:sp>
        <p:nvSpPr>
          <p:cNvPr id="36" name="Text 34"/>
          <p:cNvSpPr txBox="1"/>
          <p:nvPr/>
        </p:nvSpPr>
        <p:spPr>
          <a:xfrm>
            <a:off x="1197864" y="489204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อ่านชื่อ PR แล้วรู้ไหมว่าเปลี่ยนอะไร</a:t>
            </a:r>
            <a:endParaRPr lang="en-US" sz="1450"/>
          </a:p>
        </p:txBody>
      </p:sp>
      <p:sp>
        <p:nvSpPr>
          <p:cNvPr id="37" name="Shape 35"/>
          <p:cNvSpPr/>
          <p:nvPr/>
        </p:nvSpPr>
        <p:spPr>
          <a:xfrm>
            <a:off x="594360" y="5431536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94360" y="5431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/>
          </a:p>
        </p:txBody>
      </p:sp>
      <p:sp>
        <p:nvSpPr>
          <p:cNvPr id="39" name="Text 37"/>
          <p:cNvSpPr txBox="1"/>
          <p:nvPr/>
        </p:nvSpPr>
        <p:spPr>
          <a:xfrm>
            <a:off x="1197864" y="539496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มีอะไรที่เปลี่ยนเกินจากที่บอกไว้หรือไม่</a:t>
            </a:r>
            <a:endParaRPr lang="en-US" sz="1450"/>
          </a:p>
        </p:txBody>
      </p:sp>
      <p:sp>
        <p:nvSpPr>
          <p:cNvPr id="40" name="Shape 38"/>
          <p:cNvSpPr/>
          <p:nvPr/>
        </p:nvSpPr>
        <p:spPr>
          <a:xfrm>
            <a:off x="594360" y="5934456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4360" y="5934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/>
          </a:p>
        </p:txBody>
      </p:sp>
      <p:sp>
        <p:nvSpPr>
          <p:cNvPr id="42" name="Text 40"/>
          <p:cNvSpPr txBox="1"/>
          <p:nvPr/>
        </p:nvSpPr>
        <p:spPr>
          <a:xfrm>
            <a:off x="1197864" y="589788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มีข้อมูลที่ไม่ควรอยู่ในโค้ดหรือไม่ — ชื่อจริง เบอร์โทร รหัสผ่าน IP จริง</a:t>
            </a:r>
            <a:endParaRPr lang="en-US" sz="14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9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Conflict ไม่ใช่ error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1002975" cy="822960"/>
          </a:xfrm>
          <a:prstGeom prst="roundRect">
            <a:avLst>
              <a:gd name="adj" fmla="val 11111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กำลังบอกว่า “มีสองคนแก้บรรทัดเดียวกัน และฉันไม่กล้าตัดสินใจแทนคุณ”</a:t>
            </a:r>
            <a:endParaRPr lang="en-US" sz="1800"/>
          </a:p>
        </p:txBody>
      </p:sp>
      <p:sp>
        <p:nvSpPr>
          <p:cNvPr id="6" name="Shape 4"/>
          <p:cNvSpPr/>
          <p:nvPr/>
        </p:nvSpPr>
        <p:spPr>
          <a:xfrm>
            <a:off x="594360" y="2468880"/>
            <a:ext cx="11002975" cy="1554480"/>
          </a:xfrm>
          <a:prstGeom prst="roundRect">
            <a:avLst>
              <a:gd name="adj" fmla="val 4706"/>
            </a:avLst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70048"/>
            <a:ext cx="1054577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feature/title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&lt;h1&gt;ระบบทะเบียนครุภัณฑ์คอมพิวเตอร์&lt;/h1&gt;      &lt;-- ของฝั่ง branch เรา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&lt;h1&gt;ทะเบียนอุปกรณ์ไอที ฝ่ายสารสนเทศ&lt;/h1&gt;       &lt;-- ของฝั่ง main</a:t>
            </a:r>
            <a:endParaRPr lang="en-US" sz="1300"/>
          </a:p>
          <a:p>
            <a:pPr marL="0" indent="0">
              <a:lnSpc>
                <a:spcPct val="105000"/>
              </a:lnSpc>
              <a:buNone/>
            </a:pPr>
            <a:r>
              <a:rPr lang="en-US" sz="1300">
                <a:solidFill>
                  <a:srgbClr val="E8EE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main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594360" y="4242816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242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/>
          </a:p>
        </p:txBody>
      </p:sp>
      <p:sp>
        <p:nvSpPr>
          <p:cNvPr id="10" name="Text 8"/>
          <p:cNvSpPr txBox="1"/>
          <p:nvPr/>
        </p:nvSpPr>
        <p:spPr>
          <a:xfrm>
            <a:off x="1197864" y="420624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เลือกว่าจะเก็บอันไหน</a:t>
            </a:r>
            <a:endParaRPr lang="en-US" sz="1450"/>
          </a:p>
        </p:txBody>
      </p:sp>
      <p:sp>
        <p:nvSpPr>
          <p:cNvPr id="11" name="Text 9"/>
          <p:cNvSpPr txBox="1"/>
          <p:nvPr/>
        </p:nvSpPr>
        <p:spPr>
          <a:xfrm>
            <a:off x="1197864" y="4489704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หรือเขียนใหม่ให้รวมทั้งสองอันก็ได้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594360" y="4901184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4901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/>
          </a:p>
        </p:txBody>
      </p:sp>
      <p:sp>
        <p:nvSpPr>
          <p:cNvPr id="14" name="Text 12"/>
          <p:cNvSpPr txBox="1"/>
          <p:nvPr/>
        </p:nvSpPr>
        <p:spPr>
          <a:xfrm>
            <a:off x="1197864" y="4864608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ลบบรรทัดเครื่องหมายทั้ง 3 บรรทัดทิ้งให้หมด</a:t>
            </a:r>
            <a:endParaRPr lang="en-US" sz="1450"/>
          </a:p>
        </p:txBody>
      </p:sp>
      <p:sp>
        <p:nvSpPr>
          <p:cNvPr id="15" name="Text 13"/>
          <p:cNvSpPr txBox="1"/>
          <p:nvPr/>
        </p:nvSpPr>
        <p:spPr>
          <a:xfrm>
            <a:off x="1197864" y="5148072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คือบรรทัด &lt;&lt;&lt;&lt;&lt;&lt;&lt; , ======= และ &gt;&gt;&gt;&gt;&gt;&gt;&gt;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594360" y="5559552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5559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/>
          </a:p>
        </p:txBody>
      </p:sp>
      <p:sp>
        <p:nvSpPr>
          <p:cNvPr id="18" name="Text 16"/>
          <p:cNvSpPr txBox="1"/>
          <p:nvPr/>
        </p:nvSpPr>
        <p:spPr>
          <a:xfrm>
            <a:off x="1197864" y="5522976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กด Mark as resolved แล้ว commit</a:t>
            </a:r>
            <a:endParaRPr lang="en-US" sz="1450"/>
          </a:p>
        </p:txBody>
      </p:sp>
      <p:sp>
        <p:nvSpPr>
          <p:cNvPr id="19" name="Text 17"/>
          <p:cNvSpPr txBox="1"/>
          <p:nvPr/>
        </p:nvSpPr>
        <p:spPr>
          <a:xfrm>
            <a:off x="1197864" y="5806440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จากนั้น PR จะ merge ได้ตามปกติ</a:t>
            </a:r>
            <a:endParaRPr lang="en-US" sz="1250"/>
          </a:p>
        </p:txBody>
      </p:sp>
      <p:sp>
        <p:nvSpPr>
          <p:cNvPr id="20" name="Shape 18"/>
          <p:cNvSpPr/>
          <p:nvPr/>
        </p:nvSpPr>
        <p:spPr>
          <a:xfrm>
            <a:off x="594360" y="5943600"/>
            <a:ext cx="11002975" cy="685800"/>
          </a:xfrm>
          <a:prstGeom prst="roundRect">
            <a:avLst>
              <a:gd name="adj" fmla="val 10667"/>
            </a:avLst>
          </a:prstGeom>
          <a:solidFill>
            <a:srgbClr val="EDF1F6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" y="6112764"/>
            <a:ext cx="347472" cy="347472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6204204"/>
            <a:ext cx="164592" cy="16459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252728" y="603504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ความกลัว conflict คืออุปสรรคใหญ่ที่สุดที่ทำให้คนไม่กล้าใช้ Git กับทีม — ให้ทุกคนได้ลองแก้ด้วยตัวเอง 1 ครั้งในคาบนี้</a:t>
            </a:r>
            <a:endParaRPr lang="en-US" sz="12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10  ·  14.15 – 15.15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เผยแพร่ผลงาน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591056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91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/>
          </a:p>
        </p:txBody>
      </p:sp>
      <p:sp>
        <p:nvSpPr>
          <p:cNvPr id="6" name="Text 4"/>
          <p:cNvSpPr txBox="1"/>
          <p:nvPr/>
        </p:nvSpPr>
        <p:spPr>
          <a:xfrm>
            <a:off x="1197864" y="1554480"/>
            <a:ext cx="5431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เข้าหน้า repository แล้วกด Settings</a:t>
            </a:r>
            <a:endParaRPr lang="en-US" sz="145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/>
          </a:p>
        </p:txBody>
      </p:sp>
      <p:sp>
        <p:nvSpPr>
          <p:cNvPr id="9" name="Text 7"/>
          <p:cNvSpPr txBox="1"/>
          <p:nvPr/>
        </p:nvSpPr>
        <p:spPr>
          <a:xfrm>
            <a:off x="1197864" y="2066544"/>
            <a:ext cx="5431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เมนูซ้ายมือ เลือก Pages</a:t>
            </a:r>
            <a:endParaRPr lang="en-US" sz="1450"/>
          </a:p>
        </p:txBody>
      </p:sp>
      <p:sp>
        <p:nvSpPr>
          <p:cNvPr id="10" name="Shape 8"/>
          <p:cNvSpPr/>
          <p:nvPr/>
        </p:nvSpPr>
        <p:spPr>
          <a:xfrm>
            <a:off x="594360" y="2615184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615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/>
          </a:p>
        </p:txBody>
      </p:sp>
      <p:sp>
        <p:nvSpPr>
          <p:cNvPr id="12" name="Text 10"/>
          <p:cNvSpPr txBox="1"/>
          <p:nvPr/>
        </p:nvSpPr>
        <p:spPr>
          <a:xfrm>
            <a:off x="1197864" y="2578608"/>
            <a:ext cx="5431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Source เลือก Deploy from a branch</a:t>
            </a:r>
            <a:endParaRPr lang="en-US" sz="1450"/>
          </a:p>
        </p:txBody>
      </p:sp>
      <p:sp>
        <p:nvSpPr>
          <p:cNvPr id="13" name="Shape 11"/>
          <p:cNvSpPr/>
          <p:nvPr/>
        </p:nvSpPr>
        <p:spPr>
          <a:xfrm>
            <a:off x="594360" y="3127248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/>
          </a:p>
        </p:txBody>
      </p:sp>
      <p:sp>
        <p:nvSpPr>
          <p:cNvPr id="15" name="Text 13"/>
          <p:cNvSpPr txBox="1"/>
          <p:nvPr/>
        </p:nvSpPr>
        <p:spPr>
          <a:xfrm>
            <a:off x="1197864" y="3090672"/>
            <a:ext cx="5431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Branch เลือก main และโฟลเดอร์ / (root) แล้วกด Save</a:t>
            </a:r>
            <a:endParaRPr lang="en-US" sz="1450"/>
          </a:p>
        </p:txBody>
      </p:sp>
      <p:sp>
        <p:nvSpPr>
          <p:cNvPr id="16" name="Shape 14"/>
          <p:cNvSpPr/>
          <p:nvPr/>
        </p:nvSpPr>
        <p:spPr>
          <a:xfrm>
            <a:off x="594360" y="3639312"/>
            <a:ext cx="420624" cy="420624"/>
          </a:xfrm>
          <a:prstGeom prst="ellipse">
            <a:avLst/>
          </a:prstGeom>
          <a:solidFill>
            <a:srgbClr val="1C2541"/>
          </a:solidFill>
          <a:ln w="12700">
            <a:solidFill>
              <a:srgbClr val="1C2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300"/>
          </a:p>
        </p:txBody>
      </p:sp>
      <p:sp>
        <p:nvSpPr>
          <p:cNvPr id="18" name="Text 16"/>
          <p:cNvSpPr txBox="1"/>
          <p:nvPr/>
        </p:nvSpPr>
        <p:spPr>
          <a:xfrm>
            <a:off x="1197864" y="3602736"/>
            <a:ext cx="5431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รอ 1–2 นาที แล้วรีเฟรช จะขึ้นลิงก์ให้ด้านบน</a:t>
            </a:r>
            <a:endParaRPr lang="en-US" sz="1450"/>
          </a:p>
        </p:txBody>
      </p:sp>
      <p:sp>
        <p:nvSpPr>
          <p:cNvPr id="19" name="Shape 17"/>
          <p:cNvSpPr/>
          <p:nvPr/>
        </p:nvSpPr>
        <p:spPr>
          <a:xfrm>
            <a:off x="594360" y="4297680"/>
            <a:ext cx="6035040" cy="822960"/>
          </a:xfrm>
          <a:prstGeom prst="roundRect">
            <a:avLst>
              <a:gd name="adj" fmla="val 8889"/>
            </a:avLst>
          </a:prstGeom>
          <a:solidFill>
            <a:srgbClr val="EDF1F6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2976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https://&lt;ชื่อผู้ใช้&gt;.github.io/it-asset-tracker/</a:t>
            </a:r>
            <a:endParaRPr lang="en-US" sz="1300"/>
          </a:p>
        </p:txBody>
      </p:sp>
      <p:sp>
        <p:nvSpPr>
          <p:cNvPr id="21" name="Shape 19"/>
          <p:cNvSpPr/>
          <p:nvPr/>
        </p:nvSpPr>
        <p:spPr>
          <a:xfrm>
            <a:off x="6903720" y="1554480"/>
            <a:ext cx="4693615" cy="2148840"/>
          </a:xfrm>
          <a:prstGeom prst="roundRect">
            <a:avLst>
              <a:gd name="adj" fmla="val 4255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78040" y="1810512"/>
            <a:ext cx="566928" cy="566928"/>
          </a:xfrm>
          <a:prstGeom prst="ellipse">
            <a:avLst/>
          </a:prstGeom>
          <a:solidFill>
            <a:srgbClr val="A33A3A"/>
          </a:solidFill>
          <a:ln w="12700">
            <a:solidFill>
              <a:srgbClr val="A33A3A"/>
            </a:solidFill>
            <a:prstDash val="solid"/>
          </a:ln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947672"/>
            <a:ext cx="292608" cy="29260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7178040" y="2523744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เปิดแล้วไม่ขึ้น เช็ค 4 อย่าง</a:t>
            </a:r>
            <a:endParaRPr lang="en-US" sz="1500"/>
          </a:p>
        </p:txBody>
      </p:sp>
      <p:sp>
        <p:nvSpPr>
          <p:cNvPr id="25" name="Text 22"/>
          <p:cNvSpPr txBox="1"/>
          <p:nvPr/>
        </p:nvSpPr>
        <p:spPr>
          <a:xfrm>
            <a:off x="7178040" y="2907792"/>
            <a:ext cx="41449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ไฟล์ต้องชื่อ index.html และอยู่ระดับบนสุด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repository ต้องเป็น Public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push งานล่าสุดแล้วหรือยัง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รอ 1–2 นาที แล้วกด Ctrl+F5</a:t>
            </a:r>
            <a:endParaRPr lang="en-US" sz="1250"/>
          </a:p>
        </p:txBody>
      </p:sp>
      <p:sp>
        <p:nvSpPr>
          <p:cNvPr id="26" name="Shape 23"/>
          <p:cNvSpPr/>
          <p:nvPr/>
        </p:nvSpPr>
        <p:spPr>
          <a:xfrm>
            <a:off x="6903720" y="3886200"/>
            <a:ext cx="4693615" cy="2148840"/>
          </a:xfrm>
          <a:prstGeom prst="roundRect">
            <a:avLst>
              <a:gd name="adj" fmla="val 4255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178040" y="4142232"/>
            <a:ext cx="566928" cy="566928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279392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178040" y="4855464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 version tag</a:t>
            </a:r>
            <a:endParaRPr lang="en-US" sz="1500"/>
          </a:p>
        </p:txBody>
      </p:sp>
      <p:sp>
        <p:nvSpPr>
          <p:cNvPr id="30" name="Text 26"/>
          <p:cNvSpPr txBox="1"/>
          <p:nvPr/>
        </p:nvSpPr>
        <p:spPr>
          <a:xfrm>
            <a:off x="7178040" y="5239512"/>
            <a:ext cx="41449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tag -a v1.0.0 -m "เวอร์ชันแรกที่ใช้งานได้จริง"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 push origin v1.0.0</a:t>
            </a:r>
            <a:endParaRPr lang="en-US" sz="1250"/>
          </a:p>
          <a:p>
            <a:pPr marL="0" indent="0">
              <a:lnSpc>
                <a:spcPct val="118000"/>
              </a:lnSpc>
              <a:buNone/>
            </a:pPr>
            <a:endParaRPr lang="en-US" sz="1250"/>
          </a:p>
          <a:p>
            <a:pPr marL="0" indent="0">
              <a:lnSpc>
                <a:spcPct val="118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branch เคลื่อนไปเรื่อย ๆ แต่ tag ปักอยู่กับที่ เหมือนหลักกิโลเมตร</a:t>
            </a:r>
            <a:endParaRPr lang="en-US" sz="1250"/>
          </a:p>
        </p:txBody>
      </p:sp>
      <p:sp>
        <p:nvSpPr>
          <p:cNvPr id="31" name="Shape 27"/>
          <p:cNvSpPr/>
          <p:nvPr/>
        </p:nvSpPr>
        <p:spPr>
          <a:xfrm>
            <a:off x="594360" y="6126480"/>
            <a:ext cx="11002975" cy="566928"/>
          </a:xfrm>
          <a:prstGeom prst="roundRect">
            <a:avLst>
              <a:gd name="adj" fmla="val 12903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95528" y="6236208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6327648"/>
            <a:ext cx="164592" cy="164592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252728" y="621792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ให้เวลาผู้เรียนเปิด URL บนมือถือตัวเองและถ่ายรูปแชร์ — นี่คือโมเมนต์ที่ภูมิใจที่สุดของทั้งหลักสูตร</a:t>
            </a:r>
            <a:endParaRPr lang="en-US" sz="12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11  ·  15.30 – 16.15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วงจรการทำงานที่ควรติดตัว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3484778" cy="1920240"/>
          </a:xfrm>
          <a:prstGeom prst="roundRect">
            <a:avLst>
              <a:gd name="adj" fmla="val 476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1883664"/>
            <a:ext cx="502920" cy="50292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1883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2387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คุยให้ชัด</a:t>
            </a:r>
            <a:endParaRPr lang="en-US" sz="1600"/>
          </a:p>
        </p:txBody>
      </p:sp>
      <p:sp>
        <p:nvSpPr>
          <p:cNvPr id="8" name="Text 6"/>
          <p:cNvSpPr txBox="1"/>
          <p:nvPr/>
        </p:nvSpPr>
        <p:spPr>
          <a:xfrm>
            <a:off x="868680" y="2542032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ถามกลับ ขอทางเลือก</a:t>
            </a:r>
            <a:endParaRPr lang="en-US" sz="1250"/>
          </a:p>
        </p:txBody>
      </p:sp>
      <p:sp>
        <p:nvSpPr>
          <p:cNvPr id="9" name="Text 7"/>
          <p:cNvSpPr txBox="1"/>
          <p:nvPr/>
        </p:nvSpPr>
        <p:spPr>
          <a:xfrm>
            <a:off x="868680" y="318211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chat</a:t>
            </a:r>
            <a:endParaRPr lang="en-US" sz="1150"/>
          </a:p>
        </p:txBody>
      </p:sp>
      <p:sp>
        <p:nvSpPr>
          <p:cNvPr id="10" name="Shape 8"/>
          <p:cNvSpPr/>
          <p:nvPr/>
        </p:nvSpPr>
        <p:spPr>
          <a:xfrm>
            <a:off x="4353458" y="1645920"/>
            <a:ext cx="3484778" cy="1920240"/>
          </a:xfrm>
          <a:prstGeom prst="roundRect">
            <a:avLst>
              <a:gd name="adj" fmla="val 476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9490" y="1883664"/>
            <a:ext cx="502920" cy="50292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9490" y="1883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500"/>
          </a:p>
        </p:txBody>
      </p:sp>
      <p:sp>
        <p:nvSpPr>
          <p:cNvPr id="13" name="Text 11"/>
          <p:cNvSpPr txBox="1"/>
          <p:nvPr/>
        </p:nvSpPr>
        <p:spPr>
          <a:xfrm>
            <a:off x="5222138" y="1920240"/>
            <a:ext cx="2387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เขียนลงเอกสาร</a:t>
            </a:r>
            <a:endParaRPr lang="en-US" sz="1600"/>
          </a:p>
        </p:txBody>
      </p:sp>
      <p:sp>
        <p:nvSpPr>
          <p:cNvPr id="14" name="Text 12"/>
          <p:cNvSpPr txBox="1"/>
          <p:nvPr/>
        </p:nvSpPr>
        <p:spPr>
          <a:xfrm>
            <a:off x="4627778" y="2542032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สรุปเป็น SPEC ที่บอกได้ว่าเสร็จคืออะไร</a:t>
            </a:r>
            <a:endParaRPr lang="en-US" sz="1250"/>
          </a:p>
        </p:txBody>
      </p:sp>
      <p:sp>
        <p:nvSpPr>
          <p:cNvPr id="15" name="Text 13"/>
          <p:cNvSpPr txBox="1"/>
          <p:nvPr/>
        </p:nvSpPr>
        <p:spPr>
          <a:xfrm>
            <a:off x="4627778" y="318211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chat</a:t>
            </a:r>
            <a:endParaRPr lang="en-US" sz="115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484778" cy="1920240"/>
          </a:xfrm>
          <a:prstGeom prst="roundRect">
            <a:avLst>
              <a:gd name="adj" fmla="val 476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8589" y="1883664"/>
            <a:ext cx="502920" cy="50292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68589" y="1883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500"/>
          </a:p>
        </p:txBody>
      </p:sp>
      <p:sp>
        <p:nvSpPr>
          <p:cNvPr id="19" name="Text 17"/>
          <p:cNvSpPr txBox="1"/>
          <p:nvPr/>
        </p:nvSpPr>
        <p:spPr>
          <a:xfrm>
            <a:off x="8981237" y="1920240"/>
            <a:ext cx="2387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แตกเป็นก้อนเล็ก</a:t>
            </a:r>
            <a:endParaRPr lang="en-US" sz="1600"/>
          </a:p>
        </p:txBody>
      </p:sp>
      <p:sp>
        <p:nvSpPr>
          <p:cNvPr id="20" name="Text 18"/>
          <p:cNvSpPr txBox="1"/>
          <p:nvPr/>
        </p:nvSpPr>
        <p:spPr>
          <a:xfrm>
            <a:off x="8386877" y="2542032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ทำทีละฟีเจอร์</a:t>
            </a:r>
            <a:endParaRPr lang="en-US" sz="1250"/>
          </a:p>
        </p:txBody>
      </p:sp>
      <p:sp>
        <p:nvSpPr>
          <p:cNvPr id="21" name="Text 19"/>
          <p:cNvSpPr txBox="1"/>
          <p:nvPr/>
        </p:nvSpPr>
        <p:spPr>
          <a:xfrm>
            <a:off x="8386877" y="318211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ตัวเราเอง</a:t>
            </a:r>
            <a:endParaRPr lang="en-US" sz="1150"/>
          </a:p>
        </p:txBody>
      </p:sp>
      <p:sp>
        <p:nvSpPr>
          <p:cNvPr id="22" name="Shape 20"/>
          <p:cNvSpPr/>
          <p:nvPr/>
        </p:nvSpPr>
        <p:spPr>
          <a:xfrm>
            <a:off x="594360" y="3794760"/>
            <a:ext cx="3484778" cy="1920240"/>
          </a:xfrm>
          <a:prstGeom prst="roundRect">
            <a:avLst>
              <a:gd name="adj" fmla="val 476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" y="4032504"/>
            <a:ext cx="502920" cy="50292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0392" y="4032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500"/>
          </a:p>
        </p:txBody>
      </p:sp>
      <p:sp>
        <p:nvSpPr>
          <p:cNvPr id="25" name="Text 23"/>
          <p:cNvSpPr txBox="1"/>
          <p:nvPr/>
        </p:nvSpPr>
        <p:spPr>
          <a:xfrm>
            <a:off x="1463040" y="4069080"/>
            <a:ext cx="2387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 branch</a:t>
            </a:r>
            <a:endParaRPr lang="en-US" sz="1600"/>
          </a:p>
        </p:txBody>
      </p:sp>
      <p:sp>
        <p:nvSpPr>
          <p:cNvPr id="26" name="Text 24"/>
          <p:cNvSpPr txBox="1"/>
          <p:nvPr/>
        </p:nvSpPr>
        <p:spPr>
          <a:xfrm>
            <a:off x="868680" y="4690872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 branch ต่อ 1 เรื่อง</a:t>
            </a:r>
            <a:endParaRPr lang="en-US" sz="1250"/>
          </a:p>
        </p:txBody>
      </p:sp>
      <p:sp>
        <p:nvSpPr>
          <p:cNvPr id="27" name="Text 25"/>
          <p:cNvSpPr txBox="1"/>
          <p:nvPr/>
        </p:nvSpPr>
        <p:spPr>
          <a:xfrm>
            <a:off x="868680" y="533095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</a:t>
            </a:r>
            <a:endParaRPr lang="en-US" sz="1150"/>
          </a:p>
        </p:txBody>
      </p:sp>
      <p:sp>
        <p:nvSpPr>
          <p:cNvPr id="28" name="Shape 26"/>
          <p:cNvSpPr/>
          <p:nvPr/>
        </p:nvSpPr>
        <p:spPr>
          <a:xfrm>
            <a:off x="4353458" y="3794760"/>
            <a:ext cx="3484778" cy="1920240"/>
          </a:xfrm>
          <a:prstGeom prst="roundRect">
            <a:avLst>
              <a:gd name="adj" fmla="val 476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09490" y="4032504"/>
            <a:ext cx="502920" cy="50292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09490" y="4032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500"/>
          </a:p>
        </p:txBody>
      </p:sp>
      <p:sp>
        <p:nvSpPr>
          <p:cNvPr id="31" name="Text 29"/>
          <p:cNvSpPr txBox="1"/>
          <p:nvPr/>
        </p:nvSpPr>
        <p:spPr>
          <a:xfrm>
            <a:off x="5222138" y="4069080"/>
            <a:ext cx="2387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ให้ AI ทำแล้วตรวจ</a:t>
            </a:r>
            <a:endParaRPr lang="en-US" sz="1600"/>
          </a:p>
        </p:txBody>
      </p:sp>
      <p:sp>
        <p:nvSpPr>
          <p:cNvPr id="32" name="Text 30"/>
          <p:cNvSpPr txBox="1"/>
          <p:nvPr/>
        </p:nvSpPr>
        <p:spPr>
          <a:xfrm>
            <a:off x="4627778" y="4690872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ขอแผนก่อน อนุมัติ ทดสอบ แล้ว commit</a:t>
            </a:r>
            <a:endParaRPr lang="en-US" sz="1250"/>
          </a:p>
        </p:txBody>
      </p:sp>
      <p:sp>
        <p:nvSpPr>
          <p:cNvPr id="33" name="Text 31"/>
          <p:cNvSpPr txBox="1"/>
          <p:nvPr/>
        </p:nvSpPr>
        <p:spPr>
          <a:xfrm>
            <a:off x="4627778" y="533095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+ Git</a:t>
            </a:r>
            <a:endParaRPr lang="en-US" sz="1150"/>
          </a:p>
        </p:txBody>
      </p:sp>
      <p:sp>
        <p:nvSpPr>
          <p:cNvPr id="34" name="Shape 32"/>
          <p:cNvSpPr/>
          <p:nvPr/>
        </p:nvSpPr>
        <p:spPr>
          <a:xfrm>
            <a:off x="8112557" y="3794760"/>
            <a:ext cx="3484778" cy="1920240"/>
          </a:xfrm>
          <a:prstGeom prst="roundRect">
            <a:avLst>
              <a:gd name="adj" fmla="val 4762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8589" y="4032504"/>
            <a:ext cx="502920" cy="50292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68589" y="4032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500"/>
          </a:p>
        </p:txBody>
      </p:sp>
      <p:sp>
        <p:nvSpPr>
          <p:cNvPr id="37" name="Text 35"/>
          <p:cNvSpPr txBox="1"/>
          <p:nvPr/>
        </p:nvSpPr>
        <p:spPr>
          <a:xfrm>
            <a:off x="8981237" y="4069080"/>
            <a:ext cx="2387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รวมและส่งมอบ</a:t>
            </a:r>
            <a:endParaRPr lang="en-US" sz="1600"/>
          </a:p>
        </p:txBody>
      </p:sp>
      <p:sp>
        <p:nvSpPr>
          <p:cNvPr id="38" name="Text 36"/>
          <p:cNvSpPr txBox="1"/>
          <p:nvPr/>
        </p:nvSpPr>
        <p:spPr>
          <a:xfrm>
            <a:off x="8386877" y="4690872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PR ให้คนรีวิว merge แล้วเผยแพร่</a:t>
            </a:r>
            <a:endParaRPr lang="en-US" sz="1250"/>
          </a:p>
        </p:txBody>
      </p:sp>
      <p:sp>
        <p:nvSpPr>
          <p:cNvPr id="39" name="Text 37"/>
          <p:cNvSpPr txBox="1"/>
          <p:nvPr/>
        </p:nvSpPr>
        <p:spPr>
          <a:xfrm>
            <a:off x="8386877" y="533095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</a:t>
            </a:r>
            <a:endParaRPr lang="en-US" sz="11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11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ข้อควรระวังด้านความปลอดภัย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1002975" cy="1234440"/>
          </a:xfrm>
          <a:prstGeom prst="roundRect">
            <a:avLst>
              <a:gd name="adj" fmla="val 7407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81328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เพื่อนเผลอ commit ไฟล์ที่มีรหัสผ่านขึ้น repository สาธารณะ พอรู้ตัวเลยลบไฟล์แล้ว commit ใหม่ — ปลอดภัยแล้วหรือยัง</a:t>
            </a:r>
            <a:endParaRPr lang="en-US" sz="1500"/>
          </a:p>
        </p:txBody>
      </p:sp>
      <p:sp>
        <p:nvSpPr>
          <p:cNvPr id="6" name="Text 4"/>
          <p:cNvSpPr txBox="1"/>
          <p:nvPr/>
        </p:nvSpPr>
        <p:spPr>
          <a:xfrm>
            <a:off x="914400" y="20116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A33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ยังไม่ปลอดภัย — รหัสผ่านยังอยู่ในประวัติ ใครย้อนดู commit เก่าก็เห็น สิ่งที่ต้องทำทันทีคือเปลี่ยนรหัสผ่านหรือเพิกถอนคีย์นั้นทิ้ง</a:t>
            </a:r>
            <a:endParaRPr lang="en-US" sz="1350"/>
          </a:p>
        </p:txBody>
      </p:sp>
      <p:sp>
        <p:nvSpPr>
          <p:cNvPr id="7" name="Shape 5"/>
          <p:cNvSpPr/>
          <p:nvPr/>
        </p:nvSpPr>
        <p:spPr>
          <a:xfrm>
            <a:off x="594360" y="2834640"/>
            <a:ext cx="2545004" cy="2148840"/>
          </a:xfrm>
          <a:prstGeom prst="roundRect">
            <a:avLst>
              <a:gd name="adj" fmla="val 4255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3090672"/>
            <a:ext cx="566928" cy="566928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27832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380390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ก่อน commit ทุกครั้ง</a:t>
            </a:r>
            <a:endParaRPr lang="en-US" sz="1600"/>
          </a:p>
        </p:txBody>
      </p:sp>
      <p:sp>
        <p:nvSpPr>
          <p:cNvPr id="11" name="Text 8"/>
          <p:cNvSpPr txBox="1"/>
          <p:nvPr/>
        </p:nvSpPr>
        <p:spPr>
          <a:xfrm>
            <a:off x="868680" y="4187952"/>
            <a:ext cx="19963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รัน git diff --staged อ่านผ่านตาว่ามีอะไรที่ไม่ควรอยู่ในนั้น</a:t>
            </a:r>
            <a:endParaRPr lang="en-US" sz="1200"/>
          </a:p>
        </p:txBody>
      </p:sp>
      <p:sp>
        <p:nvSpPr>
          <p:cNvPr id="12" name="Shape 9"/>
          <p:cNvSpPr/>
          <p:nvPr/>
        </p:nvSpPr>
        <p:spPr>
          <a:xfrm>
            <a:off x="3413684" y="2834640"/>
            <a:ext cx="2545004" cy="2148840"/>
          </a:xfrm>
          <a:prstGeom prst="roundRect">
            <a:avLst>
              <a:gd name="adj" fmla="val 4255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88004" y="3090672"/>
            <a:ext cx="566928" cy="566928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164" y="3227832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88004" y="380390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.gitignore ตั้งแต่วันแรก</a:t>
            </a:r>
            <a:endParaRPr lang="en-US" sz="1600"/>
          </a:p>
        </p:txBody>
      </p:sp>
      <p:sp>
        <p:nvSpPr>
          <p:cNvPr id="16" name="Text 12"/>
          <p:cNvSpPr txBox="1"/>
          <p:nvPr/>
        </p:nvSpPr>
        <p:spPr>
          <a:xfrm>
            <a:off x="3688004" y="4187952"/>
            <a:ext cx="19963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 .env ไฟล์คีย์ และไฟล์ที่มีข้อมูลจริงไว้เสมอ</a:t>
            </a:r>
            <a:endParaRPr lang="en-US" sz="1200"/>
          </a:p>
        </p:txBody>
      </p:sp>
      <p:sp>
        <p:nvSpPr>
          <p:cNvPr id="17" name="Shape 13"/>
          <p:cNvSpPr/>
          <p:nvPr/>
        </p:nvSpPr>
        <p:spPr>
          <a:xfrm>
            <a:off x="6233008" y="2834640"/>
            <a:ext cx="2545004" cy="2148840"/>
          </a:xfrm>
          <a:prstGeom prst="roundRect">
            <a:avLst>
              <a:gd name="adj" fmla="val 4255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507328" y="3090672"/>
            <a:ext cx="566928" cy="566928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3227832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507328" y="380390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ก่อนวาง log หรือ config ในแชท</a:t>
            </a:r>
            <a:endParaRPr lang="en-US" sz="1600"/>
          </a:p>
        </p:txBody>
      </p:sp>
      <p:sp>
        <p:nvSpPr>
          <p:cNvPr id="21" name="Text 16"/>
          <p:cNvSpPr txBox="1"/>
          <p:nvPr/>
        </p:nvSpPr>
        <p:spPr>
          <a:xfrm>
            <a:off x="6507328" y="4187952"/>
            <a:ext cx="19963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ลบรหัสผ่าน คีย์ IP จริง ชื่อบุคคล และชื่อองค์กรออกก่อน</a:t>
            </a:r>
            <a:endParaRPr lang="en-US" sz="1200"/>
          </a:p>
        </p:txBody>
      </p:sp>
      <p:sp>
        <p:nvSpPr>
          <p:cNvPr id="22" name="Shape 17"/>
          <p:cNvSpPr/>
          <p:nvPr/>
        </p:nvSpPr>
        <p:spPr>
          <a:xfrm>
            <a:off x="9052331" y="2834640"/>
            <a:ext cx="2545004" cy="2148840"/>
          </a:xfrm>
          <a:prstGeom prst="roundRect">
            <a:avLst>
              <a:gd name="adj" fmla="val 4255"/>
            </a:avLst>
          </a:prstGeom>
          <a:solidFill>
            <a:srgbClr val="F7F9FB"/>
          </a:solidFill>
          <a:ln w="12700">
            <a:solidFill>
              <a:srgbClr val="D3DBE4"/>
            </a:solidFill>
            <a:prstDash val="solid"/>
          </a:ln>
          <a:effectLst>
            <a:outerShdw blurRad="101600" dist="25400" dir="5400000" algn="bl" rotWithShape="0">
              <a:srgbClr val="9AA7B5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26651" y="3090672"/>
            <a:ext cx="566928" cy="566928"/>
          </a:xfrm>
          <a:prstGeom prst="ellipse">
            <a:avLst/>
          </a:prstGeom>
          <a:solidFill>
            <a:srgbClr val="3A506B"/>
          </a:solidFill>
          <a:ln w="12700">
            <a:solidFill>
              <a:srgbClr val="3A506B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3811" y="3227832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326651" y="3803904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อย่าแตะระบบที่ใช้งานจริง</a:t>
            </a:r>
            <a:endParaRPr lang="en-US" sz="1600"/>
          </a:p>
        </p:txBody>
      </p:sp>
      <p:sp>
        <p:nvSpPr>
          <p:cNvPr id="26" name="Text 20"/>
          <p:cNvSpPr txBox="1"/>
          <p:nvPr/>
        </p:nvSpPr>
        <p:spPr>
          <a:xfrm>
            <a:off x="9326651" y="4187952"/>
            <a:ext cx="19963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ให้ AI ทำงานกับสำเนาหรือชุดทดสอบเสมอ และตรวจนโยบายองค์กรก่อน</a:t>
            </a:r>
            <a:endParaRPr lang="en-US" sz="1200"/>
          </a:p>
        </p:txBody>
      </p:sp>
      <p:sp>
        <p:nvSpPr>
          <p:cNvPr id="27" name="Shape 21"/>
          <p:cNvSpPr/>
          <p:nvPr/>
        </p:nvSpPr>
        <p:spPr>
          <a:xfrm>
            <a:off x="594360" y="5212080"/>
            <a:ext cx="11002975" cy="822960"/>
          </a:xfrm>
          <a:prstGeom prst="roundRect">
            <a:avLst>
              <a:gd name="adj" fmla="val 8889"/>
            </a:avLst>
          </a:prstGeom>
          <a:solidFill>
            <a:srgbClr val="F6E7E4"/>
          </a:solidFill>
          <a:ln w="12700">
            <a:solidFill>
              <a:srgbClr val="F6E7E4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95528" y="5449824"/>
            <a:ext cx="347472" cy="347472"/>
          </a:xfrm>
          <a:prstGeom prst="ellipse">
            <a:avLst/>
          </a:prstGeom>
          <a:solidFill>
            <a:srgbClr val="A33A3A"/>
          </a:solidFill>
          <a:ln w="12700">
            <a:solidFill>
              <a:srgbClr val="A33A3A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5541264"/>
            <a:ext cx="164592" cy="16459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252728" y="5303520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ข้อจำกัดของ AI ที่ต้องรู้: ตอบผิดได้ด้วยน้ำเสียงมั่นใจ · โค้ดที่รันได้ไม่ได้แปลว่าถูก · อาจอ้างถึงคำสั่งที่ไม่มีอยู่จริง · ไม่รู้บริบทในองค์กรเรา ถ้าไม่บอกมันจะเดา</a:t>
            </a:r>
            <a:endParaRPr lang="en-US" sz="12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>
                <a:solidFill>
                  <a:srgbClr val="C46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 11</a:t>
            </a:r>
            <a:endParaRPr lang="en-US" sz="1300"/>
          </a:p>
        </p:txBody>
      </p:sp>
      <p:sp>
        <p:nvSpPr>
          <p:cNvPr id="3" name="Text 1"/>
          <p:cNvSpPr txBox="1"/>
          <p:nvPr/>
        </p:nvSpPr>
        <p:spPr>
          <a:xfrm>
            <a:off x="594360" y="70408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งานแบบไหนใช้ chat งานแบบไหนใช้ Claude Code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1002975" cy="73152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1600200"/>
            <a:ext cx="3803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คิด วางแผน เปรียบเทียบทางเลือก</a:t>
            </a:r>
            <a:endParaRPr lang="en-US" sz="1300"/>
          </a:p>
        </p:txBody>
      </p:sp>
      <p:sp>
        <p:nvSpPr>
          <p:cNvPr id="6" name="Text 4"/>
          <p:cNvSpPr txBox="1"/>
          <p:nvPr/>
        </p:nvSpPr>
        <p:spPr>
          <a:xfrm>
            <a:off x="4617720" y="1600200"/>
            <a:ext cx="6796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chat  —  ออกแบบผังเครือข่ายใหม่ เลือกวิธีสำรองข้อมูล</a:t>
            </a:r>
            <a:endParaRPr lang="en-US" sz="1250"/>
          </a:p>
        </p:txBody>
      </p:sp>
      <p:sp>
        <p:nvSpPr>
          <p:cNvPr id="7" name="Text 5"/>
          <p:cNvSpPr txBox="1"/>
          <p:nvPr/>
        </p:nvSpPr>
        <p:spPr>
          <a:xfrm>
            <a:off x="758952" y="2331720"/>
            <a:ext cx="3803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ร่างเอกสาร อธิบายแนวคิด</a:t>
            </a:r>
            <a:endParaRPr lang="en-US" sz="1300"/>
          </a:p>
        </p:txBody>
      </p:sp>
      <p:sp>
        <p:nvSpPr>
          <p:cNvPr id="8" name="Text 6"/>
          <p:cNvSpPr txBox="1"/>
          <p:nvPr/>
        </p:nvSpPr>
        <p:spPr>
          <a:xfrm>
            <a:off x="4617720" y="2331720"/>
            <a:ext cx="6796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chat  —  ร่าง SOP ร่างข้อกำหนดจัดซื้อ สรุปรายงานให้ผู้บริหาร</a:t>
            </a:r>
            <a:endParaRPr lang="en-US" sz="1250"/>
          </a:p>
        </p:txBody>
      </p:sp>
      <p:sp>
        <p:nvSpPr>
          <p:cNvPr id="9" name="Shape 7"/>
          <p:cNvSpPr/>
          <p:nvPr/>
        </p:nvSpPr>
        <p:spPr>
          <a:xfrm>
            <a:off x="594360" y="3063240"/>
            <a:ext cx="11002975" cy="73152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3063240"/>
            <a:ext cx="3803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ต้องอ่านไฟล์จริงหลายไฟล์ในเครื่อง</a:t>
            </a:r>
            <a:endParaRPr lang="en-US" sz="1300"/>
          </a:p>
        </p:txBody>
      </p:sp>
      <p:sp>
        <p:nvSpPr>
          <p:cNvPr id="11" name="Text 9"/>
          <p:cNvSpPr txBox="1"/>
          <p:nvPr/>
        </p:nvSpPr>
        <p:spPr>
          <a:xfrm>
            <a:off x="4617720" y="3063240"/>
            <a:ext cx="6796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 —  ตรวจสคริปต์เก่าที่ไม่มีคนดูแล แปลงไฟล์ config หลายชุด</a:t>
            </a:r>
            <a:endParaRPr lang="en-US" sz="1250"/>
          </a:p>
        </p:txBody>
      </p:sp>
      <p:sp>
        <p:nvSpPr>
          <p:cNvPr id="12" name="Text 10"/>
          <p:cNvSpPr txBox="1"/>
          <p:nvPr/>
        </p:nvSpPr>
        <p:spPr>
          <a:xfrm>
            <a:off x="758952" y="3794760"/>
            <a:ext cx="3803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ต้องแก้ไฟล์และรันคำสั่งจริง</a:t>
            </a:r>
            <a:endParaRPr lang="en-US" sz="1300"/>
          </a:p>
        </p:txBody>
      </p:sp>
      <p:sp>
        <p:nvSpPr>
          <p:cNvPr id="13" name="Text 11"/>
          <p:cNvSpPr txBox="1"/>
          <p:nvPr/>
        </p:nvSpPr>
        <p:spPr>
          <a:xfrm>
            <a:off x="4617720" y="3794760"/>
            <a:ext cx="6796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 —  เขียนสคริปต์สรุป log ทำเครื่องมือเล็ก ๆ ให้ทีมใช้</a:t>
            </a:r>
            <a:endParaRPr lang="en-US" sz="1250"/>
          </a:p>
        </p:txBody>
      </p:sp>
      <p:sp>
        <p:nvSpPr>
          <p:cNvPr id="14" name="Shape 12"/>
          <p:cNvSpPr/>
          <p:nvPr/>
        </p:nvSpPr>
        <p:spPr>
          <a:xfrm>
            <a:off x="594360" y="4526280"/>
            <a:ext cx="11002975" cy="73152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4526280"/>
            <a:ext cx="3803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ทำซ้ำและอยากเก็บประวัติ</a:t>
            </a:r>
            <a:endParaRPr lang="en-US" sz="1300"/>
          </a:p>
        </p:txBody>
      </p:sp>
      <p:sp>
        <p:nvSpPr>
          <p:cNvPr id="16" name="Text 14"/>
          <p:cNvSpPr txBox="1"/>
          <p:nvPr/>
        </p:nvSpPr>
        <p:spPr>
          <a:xfrm>
            <a:off x="4617720" y="4526280"/>
            <a:ext cx="6796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>
                <a:solidFill>
                  <a:srgbClr val="3A50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+ Git  —  ดูแลชุด config ของอุปกรณ์ ดูแลสคริปต์ประจำของทีม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594360" y="5486400"/>
            <a:ext cx="11002975" cy="777240"/>
          </a:xfrm>
          <a:prstGeom prst="roundRect">
            <a:avLst>
              <a:gd name="adj" fmla="val 9412"/>
            </a:avLst>
          </a:prstGeom>
          <a:solidFill>
            <a:srgbClr val="E4EFE8"/>
          </a:solidFill>
          <a:ln w="12700">
            <a:solidFill>
              <a:srgbClr val="E4EF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5528" y="5701284"/>
            <a:ext cx="347472" cy="347472"/>
          </a:xfrm>
          <a:prstGeom prst="ellipse">
            <a:avLst/>
          </a:prstGeom>
          <a:solidFill>
            <a:srgbClr val="3F7A5A"/>
          </a:solidFill>
          <a:ln w="12700">
            <a:solidFill>
              <a:srgbClr val="3F7A5A"/>
            </a:solidFill>
            <a:prstDash val="solid"/>
          </a:ln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792724"/>
            <a:ext cx="164592" cy="164592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252728" y="55778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1C254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แผนส่วนตัว 3 บรรทัด: งานจริงที่จะเอาไปใช้ · ขั้นแรกที่จะลงมือภายในสัปดาห์นี้ · อุปสรรคที่คิดว่าจะเจอและจะรับมืออย่างไร</a:t>
            </a:r>
            <a:endParaRPr lang="en-US" sz="12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C2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1188720"/>
            <a:ext cx="4206240" cy="4206240"/>
          </a:xfrm>
          <a:prstGeom prst="ellipse">
            <a:avLst/>
          </a:prstGeom>
          <a:solidFill>
            <a:srgbClr val="C4623F"/>
          </a:solidFill>
          <a:ln w="12700">
            <a:solidFill>
              <a:srgbClr val="C462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>
                <a:solidFill>
                  <a:srgbClr val="E7C9B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ปิดหลักสูตร</a:t>
            </a:r>
            <a:endParaRPr lang="en-US" sz="1500"/>
          </a:p>
        </p:txBody>
      </p:sp>
      <p:sp>
        <p:nvSpPr>
          <p:cNvPr id="4" name="Text 2"/>
          <p:cNvSpPr txBox="1"/>
          <p:nvPr/>
        </p:nvSpPr>
        <p:spPr>
          <a:xfrm>
            <a:off x="731520" y="2487168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สองวันนี้เราทำอะไรสำเร็จบ้าง</a:t>
            </a:r>
            <a:endParaRPr lang="en-US" sz="340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มีเว็บแอปของตัวเองที่เปิดใช้งานได้จริงบนอินเทอร์เน็ต</a:t>
            </a:r>
            <a:endParaRPr lang="en-US" sz="1500"/>
          </a:p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 repository ที่มีประวัติครบทุกขั้นตอน ย้อนกลับได้ทุกจุด</a:t>
            </a:r>
            <a:endParaRPr lang="en-US" sz="1500"/>
          </a:p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Pull Request รีวิวงานคนอื่น และแก้ conflict มาแล้วด้วยตัวเอง</a:t>
            </a:r>
            <a:endParaRPr lang="en-US" sz="1500"/>
          </a:p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สั่งงาน AI ให้วางแผนก่อนลงมือ และตรวจงานก่อนอนุมัติเป็น</a:t>
            </a:r>
            <a:endParaRPr lang="en-US" sz="1500"/>
          </a:p>
          <a:p>
            <a:pPr marL="0" indent="0">
              <a:lnSpc>
                <a:spcPct val="130000"/>
              </a:lnSpc>
              <a:buNone/>
            </a:pPr>
            <a:r>
              <a:rPr lang="en-US" sz="1500">
                <a:solidFill>
                  <a:srgbClr val="BCC8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มีแผนที่จะเอาไปใช้กับงานจริงภายในสัปดาห์นี้</a:t>
            </a:r>
            <a:endParaRPr lang="en-US"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4848</Words>
  <Application>Microsoft Office PowerPoint</Application>
  <PresentationFormat>Widescreen</PresentationFormat>
  <Paragraphs>638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Courier New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หลักสูตร Claude Chat + Claude Code + Git &amp; GitHub</dc:title>
  <dc:subject>PptxGenJS Presentation</dc:subject>
  <dc:creator>Instructor</dc:creator>
  <cp:lastModifiedBy>ADD TURBO</cp:lastModifiedBy>
  <cp:revision>3</cp:revision>
  <dcterms:created xsi:type="dcterms:W3CDTF">2026-09-02T07:20:23Z</dcterms:created>
  <dcterms:modified xsi:type="dcterms:W3CDTF">2026-09-11T07:29:17Z</dcterms:modified>
</cp:coreProperties>
</file>